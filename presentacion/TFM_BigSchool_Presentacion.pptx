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7" r:id="rId38"/>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91" y="6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2014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Apertura. Presentarte, encuadrar el TFM: aplicacion web real de gestion de cartera personal con IA, no un prototipo de juguete. En 20-25 minutos: vision, arquitectura, el hub tecnico de datos (la pieza mas compleja), los motores de calculo, la IA, el panel de administracion (roles y proveedores) y el estado actual. Preguntas al final.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Recorrido rapido del indice. Marcar que los bloques 3 y 6 (hub tecnico y administracion) son el nucleo tecnico que pidio ver la audiencia con mas detalle.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de transicion. Pausa breve antes de entrar en el contenido de negocio.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Contraste problema/solucion. Enfatizar: nace como TFM de uso personal, pero la arquitectura esta preparada desde el dia uno para crecer a multi-usuario -- no es una limitacion, es una decision de alcance (Spec 00a: empezar simple, crecer en complejidad).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diapositiva 'gancho' -- el resumen vendible. Hablar mas despacio aqui. Cada punto se desarrolla en detalle mas adelante (el hub tecnico en el bloque 3, la IA en el 5, la administracion en el 6).</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Transicion al bloque tecnico. A partir de aqui la audiencia tecnica presta mas atencion.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el flujo de peticion: Frontend -&gt; Backend -&gt; PostgreSQL. El backend delega los trabajos pesados (analisis IA de PDFs) a Celery/Redis para no bloquear la respuesta HTTP. Tres familias de integraciones externas: datos de mercado (bloque 3), IA (bloque 5) e identidad (login social). Todo se levanta con 'docker compose up'.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hay dependencias exoticas: cada eleccion es deliberadamente 'aburrida y fiable' (FastAPI, PostgreSQL, Docker). El unico sitio donde se innova de verdad es el frontend (Web Components en vez de un framework) y el hub de datos, que se explican a continuacion.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bloque tecnico mas denso y el que mas diferencia al proyecto: como se obtienen precios y tipos de cambio de forma fiable usando solo APIs gratuitas.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incidente IDR es real (commit 961cafa): Finnhub devolvia error para un ticker indonesio sin el sufijo de mercado. En vez de parchear ese caso puntual, se diseño la cascada multi-proveedor (D12) como solucion estructural.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Explicar el mecanismo ronda a ronda: se intenta el proveedor 1 para TODOS los activos; solo los que fallaron pasan al proveedor 2, y asi sucesivamente. EODHD tiene un limite de 20 llamadas/dia -- por eso solo sirve como red de seguridad, no como fuente principal. El orden es configurable por un administrador sin tocar codigo (se ve en el bloque 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un argumento de confianza: el sistema prefiere decir 'no se pudo actualizar' antes que mostrar un dato incorrecto o desactualizado sin avisar. Es clave para un producto financiero.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de motores de dominio: como se calcula rendimiento, indicadores y alertas.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Formulas clave (Spec D04): rendimiento del activo = (precio_actual - precio_compra)/precio_compra; rendimiento en moneda base incluye el tipo de cambio; el efecto FX es la diferencia entre ambos. Aislar el efecto FX es lo que separa una herramienta seria de una hoja de calculo.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catalogo data-driven (Spec D05) es el mismo patron que roles y permisos (D11): configuracion como fuente de verdad, no codigo. Los glifos triangulares resuelven accesibilidad para usuarios con daltonismo -- coincide con el tema visual Terminal Premium.</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Spec D06. Enfatizar el historial inmutable: si el usuario cambia de opinion sobre un precio objetivo, la version anterior no se pierde -- queda como registro auditable.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de IA aplicada -- diferenciador fuerte frente a apps de seguimiento de cartera tradicionales.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Spec D07. Mencionar que el frontend muestra estados honestos del trabajo (pendiente, en proceso, exito, fallo) en vez de un spinner indefinido -- construye confianza. El patron adaptador (AIProvider ABC) es el mismo principio que el hub de datos de mercado.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Segundo bloque nuclear pedido: la parte administrativa. Cubre RBAC, gestion de usuarios y la configuracion en vivo de la cascada de proveedores del bloque 3.</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Modelo de 3 capas deliberado: permisos finos y legibles en el codigo (require_permission('portfolio.delete_permanent')), roles como unidad operativa que se asigna a personas. El arranque del sistema valida que todo permiso referenciado en el codigo exista en el catalogo -- evita el bug clasico de 'endpoint siempre devuelve 403'.</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Spec D11 SS6-7. Defensa en profundidad: la interfaz oculta botones que el usuario no puede usar, pero el backend rechaza (403) la operacion igual si se intenta por API directa. La garantia de 'siempre un admin' se verifica tambien en cada arranque del sistema, no solo al revocar.</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slide cierra el circulo con el bloque 3 (hub tecnico): el administrador controla en caliente el orden de la cascada sin tocar codigo ni redeploy. Las claves de API nunca son editables desde la interfaz -- se gestionan por variables de entorno (Spec 00b), decision deliberada para no montar infraestructura de secretos cifrados en v1.</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Bloque de cierre tecnico: seguridad transversal, decision de frontend sin framework, y la metodologia de especificaciones que sostiene todo el proyecto.</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Frontend-only enforcement se puede saltar con una llamada directa a la API; backend-only enforcement deja botones fantasma que confunden al usuario. La combinacion (ocultar + rechazar) es el estandar para cualquier aplicacion seria.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Spec D10. Mencionar que los signals son el mismo primitivo de reactividad que React 19 (use), Vue (ref) o Svelte 5 ($state) adoptaron -- se apuesta por el estandar, no por una moda de framework concreta.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Punto fuerte para el tribunal academico: cada decision de arquitectura (por que Web Components, por que cascada sin memoria, por que RBAC uniforme) esta documentada y razonada por escrito en los specs, no solo en la cabeza del autor.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del recorrido tecnico con la prueba de alcance: que se entrego realmente.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especificaciones de dominio completas (D01-D12) mas 8 changesets de mejora incremental. Cada fila de esta tabla tiene commits, tests y documentacion verificables en el repositorio -- no es una lista de intenciones.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breve y realista, sin sobreprometer. Todo lo listado aqui es una extension aditiva que no rompe la arquitectura actual.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final antes de preguntas. Volver al hilo de la diapositiva 5 (propuesta de valor) para cerrar el circulo narrativo.</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Preguntas frecuentes previstas y respuesta corta:</a:t>
            </a:r>
          </a:p>
          <a:p>
            <a:r>
              <a:t>- Por que Web Components y no React/Vue -- estandar W3C, cero lock-in, se explica en slide 25.</a:t>
            </a:r>
          </a:p>
          <a:p>
            <a:r>
              <a:t>- Como decide la cascada cuando reintentar -- por rondas, solo sobre activos no resueltos, sin memoria entre ejecuciones (slide 11).</a:t>
            </a:r>
          </a:p>
          <a:p>
            <a:r>
              <a:t>- Que pasa si fallan TODOS los proveedores -- CascadeFailureReport, notificacion al usuario, nunca se inventa un dato (slide 12).</a:t>
            </a:r>
          </a:p>
          <a:p>
            <a:r>
              <a:t>- Como se protege que un Inversor vea datos de otro usuario -- aislamiento por ownership verificado en cada consulta, mas RBAC en el endpoint (slide 20 y 24).</a:t>
            </a:r>
          </a:p>
          <a:p>
            <a:r>
              <a:t>- Por que el catalogo de indicadores y el catalogo de roles son YAML y no tablas de admin editables -- decision v1 de simplicidad, documentada como extension natural futura.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417320"/>
            <a:ext cx="9144000" cy="365760"/>
          </a:xfrm>
          <a:prstGeom prst="rect">
            <a:avLst/>
          </a:prstGeom>
          <a:noFill/>
        </p:spPr>
        <p:txBody>
          <a:bodyPr wrap="square" lIns="0" tIns="0" rIns="0" bIns="0" anchor="t">
            <a:spAutoFit/>
          </a:bodyPr>
          <a:lstStyle/>
          <a:p>
            <a:pPr algn="l">
              <a:lnSpc>
                <a:spcPct val="115000"/>
              </a:lnSpc>
            </a:pPr>
            <a:r>
              <a:rPr sz="1400" b="1" i="0">
                <a:solidFill>
                  <a:srgbClr val="C9A45C"/>
                </a:solidFill>
                <a:latin typeface="JetBrains Mono"/>
              </a:rPr>
              <a:t>TRABAJO FIN DE MÁSTER · BIGSCHOOL</a:t>
            </a:r>
          </a:p>
        </p:txBody>
      </p:sp>
      <p:sp>
        <p:nvSpPr>
          <p:cNvPr id="5" name="TextBox 4"/>
          <p:cNvSpPr txBox="1"/>
          <p:nvPr/>
        </p:nvSpPr>
        <p:spPr>
          <a:xfrm>
            <a:off x="822960" y="1874519"/>
            <a:ext cx="10332720" cy="1920240"/>
          </a:xfrm>
          <a:prstGeom prst="rect">
            <a:avLst/>
          </a:prstGeom>
          <a:noFill/>
        </p:spPr>
        <p:txBody>
          <a:bodyPr wrap="square" lIns="0" tIns="0" rIns="0" bIns="0" anchor="t">
            <a:spAutoFit/>
          </a:bodyPr>
          <a:lstStyle/>
          <a:p>
            <a:pPr algn="l">
              <a:lnSpc>
                <a:spcPct val="105000"/>
              </a:lnSpc>
            </a:pPr>
            <a:r>
              <a:rPr sz="4400" b="1" i="0">
                <a:solidFill>
                  <a:srgbClr val="E7E9ED"/>
                </a:solidFill>
                <a:latin typeface="Space Grotesk"/>
              </a:rPr>
              <a:t>Sistema de Gestión de</a:t>
            </a:r>
          </a:p>
          <a:p>
            <a:pPr algn="l">
              <a:lnSpc>
                <a:spcPct val="105000"/>
              </a:lnSpc>
            </a:pPr>
            <a:r>
              <a:rPr sz="4400" b="1" i="0">
                <a:solidFill>
                  <a:srgbClr val="E7E9ED"/>
                </a:solidFill>
                <a:latin typeface="Space Grotesk"/>
              </a:rPr>
              <a:t>Cartera Financiera con IA</a:t>
            </a:r>
          </a:p>
        </p:txBody>
      </p:sp>
      <p:sp>
        <p:nvSpPr>
          <p:cNvPr id="6" name="TextBox 5"/>
          <p:cNvSpPr txBox="1"/>
          <p:nvPr/>
        </p:nvSpPr>
        <p:spPr>
          <a:xfrm>
            <a:off x="822960" y="3703320"/>
            <a:ext cx="9601200" cy="548640"/>
          </a:xfrm>
          <a:prstGeom prst="rect">
            <a:avLst/>
          </a:prstGeom>
          <a:noFill/>
        </p:spPr>
        <p:txBody>
          <a:bodyPr wrap="square" lIns="0" tIns="0" rIns="0" bIns="0" anchor="t">
            <a:spAutoFit/>
          </a:bodyPr>
          <a:lstStyle/>
          <a:p>
            <a:pPr algn="l">
              <a:lnSpc>
                <a:spcPct val="115000"/>
              </a:lnSpc>
            </a:pPr>
            <a:r>
              <a:rPr sz="1700" b="0" i="0">
                <a:solidFill>
                  <a:srgbClr val="99A0AB"/>
                </a:solidFill>
                <a:latin typeface="Space Grotesk"/>
              </a:rPr>
              <a:t>Arquitectura técnica · hub de datos de mercado · panel de administración</a:t>
            </a:r>
          </a:p>
        </p:txBody>
      </p:sp>
      <p:sp>
        <p:nvSpPr>
          <p:cNvPr id="7" name="Rectangle 6"/>
          <p:cNvSpPr/>
          <p:nvPr/>
        </p:nvSpPr>
        <p:spPr>
          <a:xfrm>
            <a:off x="822960" y="4343400"/>
            <a:ext cx="100584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5806440"/>
            <a:ext cx="5486400" cy="365760"/>
          </a:xfrm>
          <a:prstGeom prst="rect">
            <a:avLst/>
          </a:prstGeom>
          <a:noFill/>
        </p:spPr>
        <p:txBody>
          <a:bodyPr wrap="square" lIns="0" tIns="0" rIns="0" bIns="0" anchor="t">
            <a:spAutoFit/>
          </a:bodyPr>
          <a:lstStyle/>
          <a:p>
            <a:pPr algn="l">
              <a:lnSpc>
                <a:spcPct val="115000"/>
              </a:lnSpc>
            </a:pPr>
            <a:r>
              <a:rPr sz="1500" b="1" i="0">
                <a:solidFill>
                  <a:srgbClr val="E7E9ED"/>
                </a:solidFill>
                <a:latin typeface="Space Grotesk"/>
              </a:rPr>
              <a:t>Romer Cepeda</a:t>
            </a:r>
          </a:p>
        </p:txBody>
      </p:sp>
      <p:sp>
        <p:nvSpPr>
          <p:cNvPr id="9" name="TextBox 8"/>
          <p:cNvSpPr txBox="1"/>
          <p:nvPr/>
        </p:nvSpPr>
        <p:spPr>
          <a:xfrm>
            <a:off x="822960" y="6108192"/>
            <a:ext cx="5486400" cy="320040"/>
          </a:xfrm>
          <a:prstGeom prst="rect">
            <a:avLst/>
          </a:prstGeom>
          <a:noFill/>
        </p:spPr>
        <p:txBody>
          <a:bodyPr wrap="square" lIns="0" tIns="0" rIns="0" bIns="0" anchor="t">
            <a:spAutoFit/>
          </a:bodyPr>
          <a:lstStyle/>
          <a:p>
            <a:pPr algn="l">
              <a:lnSpc>
                <a:spcPct val="115000"/>
              </a:lnSpc>
            </a:pPr>
            <a:r>
              <a:rPr sz="1150" b="0" i="0">
                <a:solidFill>
                  <a:srgbClr val="5C6472"/>
                </a:solidFill>
                <a:latin typeface="JetBrains Mono"/>
              </a:rPr>
              <a:t>github.com/romercepeda/TFM_BigSchool</a:t>
            </a:r>
          </a:p>
        </p:txBody>
      </p:sp>
      <p:sp>
        <p:nvSpPr>
          <p:cNvPr id="10" name="TextBox 9"/>
          <p:cNvSpPr txBox="1"/>
          <p:nvPr/>
        </p:nvSpPr>
        <p:spPr>
          <a:xfrm>
            <a:off x="8229600" y="5806440"/>
            <a:ext cx="3108960" cy="640080"/>
          </a:xfrm>
          <a:prstGeom prst="rect">
            <a:avLst/>
          </a:prstGeom>
          <a:noFill/>
        </p:spPr>
        <p:txBody>
          <a:bodyPr wrap="square" lIns="0" tIns="0" rIns="0" bIns="0" anchor="t">
            <a:spAutoFit/>
          </a:bodyPr>
          <a:lstStyle/>
          <a:p>
            <a:pPr algn="r">
              <a:lnSpc>
                <a:spcPct val="130000"/>
              </a:lnSpc>
            </a:pPr>
            <a:r>
              <a:rPr sz="1050" b="0" i="0">
                <a:solidFill>
                  <a:srgbClr val="5C6472"/>
                </a:solidFill>
                <a:latin typeface="JetBrains Mono"/>
              </a:rPr>
              <a:t>Python · FastAPI · PostgreSQL</a:t>
            </a:r>
          </a:p>
          <a:p>
            <a:pPr algn="r">
              <a:lnSpc>
                <a:spcPct val="130000"/>
              </a:lnSpc>
            </a:pPr>
            <a:r>
              <a:rPr sz="1050" b="0" i="0">
                <a:solidFill>
                  <a:srgbClr val="5C6472"/>
                </a:solidFill>
                <a:latin typeface="JetBrains Mono"/>
              </a:rPr>
              <a:t>TypeScript · Web Components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ÍNDICE</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Qué vamos a ver</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965960"/>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01</a:t>
            </a:r>
          </a:p>
        </p:txBody>
      </p:sp>
      <p:sp>
        <p:nvSpPr>
          <p:cNvPr id="7" name="TextBox 6"/>
          <p:cNvSpPr txBox="1"/>
          <p:nvPr/>
        </p:nvSpPr>
        <p:spPr>
          <a:xfrm>
            <a:off x="1463040" y="1993392"/>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Visión y propuesta de valor</a:t>
            </a:r>
          </a:p>
        </p:txBody>
      </p:sp>
      <p:sp>
        <p:nvSpPr>
          <p:cNvPr id="8" name="Rectangle 7"/>
          <p:cNvSpPr/>
          <p:nvPr/>
        </p:nvSpPr>
        <p:spPr>
          <a:xfrm>
            <a:off x="685800" y="2679192"/>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990088"/>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02</a:t>
            </a:r>
          </a:p>
        </p:txBody>
      </p:sp>
      <p:sp>
        <p:nvSpPr>
          <p:cNvPr id="10" name="TextBox 9"/>
          <p:cNvSpPr txBox="1"/>
          <p:nvPr/>
        </p:nvSpPr>
        <p:spPr>
          <a:xfrm>
            <a:off x="1463040" y="3017520"/>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Arquitectura general y stack tecnológico</a:t>
            </a:r>
          </a:p>
        </p:txBody>
      </p:sp>
      <p:sp>
        <p:nvSpPr>
          <p:cNvPr id="11" name="Rectangle 10"/>
          <p:cNvSpPr/>
          <p:nvPr/>
        </p:nvSpPr>
        <p:spPr>
          <a:xfrm>
            <a:off x="685800" y="3703320"/>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4014216"/>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03</a:t>
            </a:r>
          </a:p>
        </p:txBody>
      </p:sp>
      <p:sp>
        <p:nvSpPr>
          <p:cNvPr id="13" name="TextBox 12"/>
          <p:cNvSpPr txBox="1"/>
          <p:nvPr/>
        </p:nvSpPr>
        <p:spPr>
          <a:xfrm>
            <a:off x="1463040" y="4041648"/>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Hub técnico: cascada multi-proveedor de datos</a:t>
            </a:r>
          </a:p>
        </p:txBody>
      </p:sp>
      <p:sp>
        <p:nvSpPr>
          <p:cNvPr id="14" name="Rectangle 13"/>
          <p:cNvSpPr/>
          <p:nvPr/>
        </p:nvSpPr>
        <p:spPr>
          <a:xfrm>
            <a:off x="685800" y="4727448"/>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5038344"/>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04</a:t>
            </a:r>
          </a:p>
        </p:txBody>
      </p:sp>
      <p:sp>
        <p:nvSpPr>
          <p:cNvPr id="16" name="TextBox 15"/>
          <p:cNvSpPr txBox="1"/>
          <p:nvPr/>
        </p:nvSpPr>
        <p:spPr>
          <a:xfrm>
            <a:off x="1463040" y="5065776"/>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Motores de cálculo: FX, KPIs, indicadores, alertas</a:t>
            </a:r>
          </a:p>
        </p:txBody>
      </p:sp>
      <p:sp>
        <p:nvSpPr>
          <p:cNvPr id="17" name="Rectangle 16"/>
          <p:cNvSpPr/>
          <p:nvPr/>
        </p:nvSpPr>
        <p:spPr>
          <a:xfrm>
            <a:off x="685800" y="5751576"/>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60" y="1965960"/>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05</a:t>
            </a:r>
          </a:p>
        </p:txBody>
      </p:sp>
      <p:sp>
        <p:nvSpPr>
          <p:cNvPr id="19" name="TextBox 18"/>
          <p:cNvSpPr txBox="1"/>
          <p:nvPr/>
        </p:nvSpPr>
        <p:spPr>
          <a:xfrm>
            <a:off x="6858000" y="1993392"/>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Análisis de informes con Inteligencia Artificial</a:t>
            </a:r>
          </a:p>
        </p:txBody>
      </p:sp>
      <p:sp>
        <p:nvSpPr>
          <p:cNvPr id="20" name="Rectangle 19"/>
          <p:cNvSpPr/>
          <p:nvPr/>
        </p:nvSpPr>
        <p:spPr>
          <a:xfrm>
            <a:off x="6080760" y="2679192"/>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80760" y="2990088"/>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06</a:t>
            </a:r>
          </a:p>
        </p:txBody>
      </p:sp>
      <p:sp>
        <p:nvSpPr>
          <p:cNvPr id="22" name="TextBox 21"/>
          <p:cNvSpPr txBox="1"/>
          <p:nvPr/>
        </p:nvSpPr>
        <p:spPr>
          <a:xfrm>
            <a:off x="6858000" y="3017520"/>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Panel de Administración: roles, usuarios, proveedores</a:t>
            </a:r>
          </a:p>
        </p:txBody>
      </p:sp>
      <p:sp>
        <p:nvSpPr>
          <p:cNvPr id="23" name="Rectangle 22"/>
          <p:cNvSpPr/>
          <p:nvPr/>
        </p:nvSpPr>
        <p:spPr>
          <a:xfrm>
            <a:off x="6080760" y="3703320"/>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80760" y="4014216"/>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07</a:t>
            </a:r>
          </a:p>
        </p:txBody>
      </p:sp>
      <p:sp>
        <p:nvSpPr>
          <p:cNvPr id="25" name="TextBox 24"/>
          <p:cNvSpPr txBox="1"/>
          <p:nvPr/>
        </p:nvSpPr>
        <p:spPr>
          <a:xfrm>
            <a:off x="6858000" y="4041648"/>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Seguridad y metodología de desarrollo</a:t>
            </a:r>
          </a:p>
        </p:txBody>
      </p:sp>
      <p:sp>
        <p:nvSpPr>
          <p:cNvPr id="26" name="Rectangle 25"/>
          <p:cNvSpPr/>
          <p:nvPr/>
        </p:nvSpPr>
        <p:spPr>
          <a:xfrm>
            <a:off x="6080760" y="4727448"/>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80760" y="5038344"/>
            <a:ext cx="777240" cy="548640"/>
          </a:xfrm>
          <a:prstGeom prst="rect">
            <a:avLst/>
          </a:prstGeom>
          <a:noFill/>
        </p:spPr>
        <p:txBody>
          <a:bodyPr wrap="square" lIns="0" tIns="0" rIns="0" bIns="0" anchor="t">
            <a:spAutoFit/>
          </a:bodyPr>
          <a:lstStyle/>
          <a:p>
            <a:pPr algn="l">
              <a:lnSpc>
                <a:spcPct val="115000"/>
              </a:lnSpc>
            </a:pPr>
            <a:r>
              <a:rPr sz="2200" b="1" i="0">
                <a:solidFill>
                  <a:srgbClr val="C9A45C"/>
                </a:solidFill>
                <a:latin typeface="JetBrains Mono"/>
              </a:rPr>
              <a:t>08</a:t>
            </a:r>
          </a:p>
        </p:txBody>
      </p:sp>
      <p:sp>
        <p:nvSpPr>
          <p:cNvPr id="28" name="TextBox 27"/>
          <p:cNvSpPr txBox="1"/>
          <p:nvPr/>
        </p:nvSpPr>
        <p:spPr>
          <a:xfrm>
            <a:off x="6858000" y="5065776"/>
            <a:ext cx="4343400" cy="548640"/>
          </a:xfrm>
          <a:prstGeom prst="rect">
            <a:avLst/>
          </a:prstGeom>
          <a:noFill/>
        </p:spPr>
        <p:txBody>
          <a:bodyPr wrap="square" lIns="0" tIns="0" rIns="0" bIns="0" anchor="t">
            <a:spAutoFit/>
          </a:bodyPr>
          <a:lstStyle/>
          <a:p>
            <a:pPr algn="l">
              <a:lnSpc>
                <a:spcPct val="115000"/>
              </a:lnSpc>
            </a:pPr>
            <a:r>
              <a:rPr sz="1600" b="0" i="0">
                <a:solidFill>
                  <a:srgbClr val="E7E9ED"/>
                </a:solidFill>
                <a:latin typeface="Space Grotesk"/>
              </a:rPr>
              <a:t>Estado actual y próximos pasos</a:t>
            </a:r>
          </a:p>
        </p:txBody>
      </p:sp>
      <p:sp>
        <p:nvSpPr>
          <p:cNvPr id="29" name="Rectangle 28"/>
          <p:cNvSpPr/>
          <p:nvPr/>
        </p:nvSpPr>
        <p:spPr>
          <a:xfrm>
            <a:off x="6080760" y="5751576"/>
            <a:ext cx="5120640"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31" name="TextBox 30"/>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01</a:t>
            </a:r>
          </a:p>
        </p:txBody>
      </p:sp>
      <p:sp>
        <p:nvSpPr>
          <p:cNvPr id="32" name="Rectangle 31"/>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01</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Visión y propuesta de valor</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Qué problema resuelve la aplicación y por qué importa</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01 · VISIÓN</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02</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01 · VISIÓN</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¿Qué problema resuelve?</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965960"/>
            <a:ext cx="5074920" cy="416052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35040" y="1965960"/>
            <a:ext cx="5074920" cy="416052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40280"/>
            <a:ext cx="4434840" cy="365760"/>
          </a:xfrm>
          <a:prstGeom prst="rect">
            <a:avLst/>
          </a:prstGeom>
          <a:noFill/>
        </p:spPr>
        <p:txBody>
          <a:bodyPr wrap="square" lIns="0" tIns="0" rIns="0" bIns="0" anchor="t">
            <a:spAutoFit/>
          </a:bodyPr>
          <a:lstStyle/>
          <a:p>
            <a:pPr algn="l">
              <a:lnSpc>
                <a:spcPct val="115000"/>
              </a:lnSpc>
            </a:pPr>
            <a:r>
              <a:rPr sz="1300" b="1" i="0">
                <a:solidFill>
                  <a:srgbClr val="E46A6A"/>
                </a:solidFill>
                <a:latin typeface="JetBrains Mono"/>
              </a:rPr>
              <a:t>EL PROBLEMA</a:t>
            </a:r>
          </a:p>
        </p:txBody>
      </p:sp>
      <p:sp>
        <p:nvSpPr>
          <p:cNvPr id="9" name="TextBox 8"/>
          <p:cNvSpPr txBox="1"/>
          <p:nvPr/>
        </p:nvSpPr>
        <p:spPr>
          <a:xfrm>
            <a:off x="1005840" y="2743200"/>
            <a:ext cx="4434840" cy="3345596"/>
          </a:xfrm>
          <a:prstGeom prst="rect">
            <a:avLst/>
          </a:prstGeom>
          <a:noFill/>
        </p:spPr>
        <p:txBody>
          <a:bodyPr wrap="square" lIns="0" tIns="0" rIns="0" bIns="0">
            <a:spAutoFit/>
          </a:bodyPr>
          <a:lstStyle/>
          <a:p>
            <a:pPr>
              <a:lnSpc>
                <a:spcPct val="135000"/>
              </a:lnSpc>
              <a:spcAft>
                <a:spcPts val="400"/>
              </a:spcAft>
            </a:pPr>
            <a:r>
              <a:rPr sz="1500" b="1" dirty="0">
                <a:solidFill>
                  <a:srgbClr val="E46A6A"/>
                </a:solidFill>
                <a:latin typeface="Space Grotesk"/>
              </a:rPr>
              <a:t>▪  </a:t>
            </a:r>
            <a:r>
              <a:rPr sz="1500" dirty="0" err="1">
                <a:solidFill>
                  <a:srgbClr val="99A0AB"/>
                </a:solidFill>
                <a:latin typeface="Space Grotesk"/>
              </a:rPr>
              <a:t>Gestionar</a:t>
            </a:r>
            <a:r>
              <a:rPr sz="1500" dirty="0">
                <a:solidFill>
                  <a:srgbClr val="99A0AB"/>
                </a:solidFill>
                <a:latin typeface="Space Grotesk"/>
              </a:rPr>
              <a:t> </a:t>
            </a:r>
            <a:r>
              <a:rPr sz="1500" dirty="0" err="1">
                <a:solidFill>
                  <a:srgbClr val="99A0AB"/>
                </a:solidFill>
                <a:latin typeface="Space Grotesk"/>
              </a:rPr>
              <a:t>varias</a:t>
            </a:r>
            <a:r>
              <a:rPr sz="1500" dirty="0">
                <a:solidFill>
                  <a:srgbClr val="99A0AB"/>
                </a:solidFill>
                <a:latin typeface="Space Grotesk"/>
              </a:rPr>
              <a:t> </a:t>
            </a:r>
            <a:r>
              <a:rPr sz="1500" dirty="0" err="1">
                <a:solidFill>
                  <a:srgbClr val="99A0AB"/>
                </a:solidFill>
                <a:latin typeface="Space Grotesk"/>
              </a:rPr>
              <a:t>carteras</a:t>
            </a:r>
            <a:r>
              <a:rPr sz="1500" dirty="0">
                <a:solidFill>
                  <a:srgbClr val="99A0AB"/>
                </a:solidFill>
                <a:latin typeface="Space Grotesk"/>
              </a:rPr>
              <a:t> (</a:t>
            </a:r>
            <a:r>
              <a:rPr sz="1500" dirty="0" err="1">
                <a:solidFill>
                  <a:srgbClr val="99A0AB"/>
                </a:solidFill>
                <a:latin typeface="Space Grotesk"/>
              </a:rPr>
              <a:t>acciones</a:t>
            </a:r>
            <a:r>
              <a:rPr sz="1500" dirty="0">
                <a:solidFill>
                  <a:srgbClr val="99A0AB"/>
                </a:solidFill>
                <a:latin typeface="Space Grotesk"/>
              </a:rPr>
              <a:t>, ETFs, </a:t>
            </a:r>
            <a:r>
              <a:rPr sz="1500" dirty="0" err="1">
                <a:solidFill>
                  <a:srgbClr val="99A0AB"/>
                </a:solidFill>
                <a:latin typeface="Space Grotesk"/>
              </a:rPr>
              <a:t>fondos</a:t>
            </a:r>
            <a:r>
              <a:rPr sz="1500" dirty="0">
                <a:solidFill>
                  <a:srgbClr val="99A0AB"/>
                </a:solidFill>
                <a:latin typeface="Space Grotesk"/>
              </a:rPr>
              <a:t>, Bitcoin) a mano es </a:t>
            </a:r>
            <a:r>
              <a:rPr sz="1500" dirty="0" err="1">
                <a:solidFill>
                  <a:srgbClr val="99A0AB"/>
                </a:solidFill>
                <a:latin typeface="Space Grotesk"/>
              </a:rPr>
              <a:t>disperso</a:t>
            </a:r>
            <a:r>
              <a:rPr sz="1500" dirty="0">
                <a:solidFill>
                  <a:srgbClr val="99A0AB"/>
                </a:solidFill>
                <a:latin typeface="Space Grotesk"/>
              </a:rPr>
              <a:t> y </a:t>
            </a:r>
            <a:r>
              <a:rPr sz="1500" dirty="0" err="1">
                <a:solidFill>
                  <a:srgbClr val="99A0AB"/>
                </a:solidFill>
                <a:latin typeface="Space Grotesk"/>
              </a:rPr>
              <a:t>propenso</a:t>
            </a:r>
            <a:r>
              <a:rPr sz="1500" dirty="0">
                <a:solidFill>
                  <a:srgbClr val="99A0AB"/>
                </a:solidFill>
                <a:latin typeface="Space Grotesk"/>
              </a:rPr>
              <a:t> a </a:t>
            </a:r>
            <a:r>
              <a:rPr sz="1500" dirty="0" err="1">
                <a:solidFill>
                  <a:srgbClr val="99A0AB"/>
                </a:solidFill>
                <a:latin typeface="Space Grotesk"/>
              </a:rPr>
              <a:t>errores</a:t>
            </a:r>
            <a:endParaRPr sz="1500" dirty="0">
              <a:solidFill>
                <a:srgbClr val="99A0AB"/>
              </a:solidFill>
              <a:latin typeface="Space Grotesk"/>
            </a:endParaRPr>
          </a:p>
          <a:p>
            <a:pPr>
              <a:lnSpc>
                <a:spcPct val="135000"/>
              </a:lnSpc>
              <a:spcAft>
                <a:spcPts val="400"/>
              </a:spcAft>
            </a:pPr>
            <a:r>
              <a:rPr sz="1500" b="1" dirty="0">
                <a:solidFill>
                  <a:srgbClr val="E46A6A"/>
                </a:solidFill>
                <a:latin typeface="Space Grotesk"/>
              </a:rPr>
              <a:t>▪  </a:t>
            </a:r>
            <a:r>
              <a:rPr sz="1500" dirty="0">
                <a:solidFill>
                  <a:srgbClr val="99A0AB"/>
                </a:solidFill>
                <a:latin typeface="Space Grotesk"/>
              </a:rPr>
              <a:t>Sin </a:t>
            </a:r>
            <a:r>
              <a:rPr sz="1500" dirty="0" err="1">
                <a:solidFill>
                  <a:srgbClr val="99A0AB"/>
                </a:solidFill>
                <a:latin typeface="Space Grotesk"/>
              </a:rPr>
              <a:t>seguimiento</a:t>
            </a:r>
            <a:r>
              <a:rPr sz="1500" dirty="0">
                <a:solidFill>
                  <a:srgbClr val="99A0AB"/>
                </a:solidFill>
                <a:latin typeface="Space Grotesk"/>
              </a:rPr>
              <a:t> </a:t>
            </a:r>
            <a:r>
              <a:rPr sz="1500" dirty="0" err="1">
                <a:solidFill>
                  <a:srgbClr val="99A0AB"/>
                </a:solidFill>
                <a:latin typeface="Space Grotesk"/>
              </a:rPr>
              <a:t>sistemático</a:t>
            </a:r>
            <a:r>
              <a:rPr sz="1500" dirty="0">
                <a:solidFill>
                  <a:srgbClr val="99A0AB"/>
                </a:solidFill>
                <a:latin typeface="Space Grotesk"/>
              </a:rPr>
              <a:t> de </a:t>
            </a:r>
            <a:r>
              <a:rPr sz="1500" dirty="0" err="1">
                <a:solidFill>
                  <a:srgbClr val="99A0AB"/>
                </a:solidFill>
                <a:latin typeface="Space Grotesk"/>
              </a:rPr>
              <a:t>indicadores</a:t>
            </a:r>
            <a:r>
              <a:rPr sz="1500" dirty="0">
                <a:solidFill>
                  <a:srgbClr val="99A0AB"/>
                </a:solidFill>
                <a:latin typeface="Space Grotesk"/>
              </a:rPr>
              <a:t> </a:t>
            </a:r>
            <a:r>
              <a:rPr sz="1500" dirty="0" err="1">
                <a:solidFill>
                  <a:srgbClr val="99A0AB"/>
                </a:solidFill>
                <a:latin typeface="Space Grotesk"/>
              </a:rPr>
              <a:t>técnicos</a:t>
            </a:r>
            <a:r>
              <a:rPr sz="1500" dirty="0">
                <a:solidFill>
                  <a:srgbClr val="99A0AB"/>
                </a:solidFill>
                <a:latin typeface="Space Grotesk"/>
              </a:rPr>
              <a:t> y </a:t>
            </a:r>
            <a:r>
              <a:rPr sz="1500" dirty="0" err="1">
                <a:solidFill>
                  <a:srgbClr val="99A0AB"/>
                </a:solidFill>
                <a:latin typeface="Space Grotesk"/>
              </a:rPr>
              <a:t>fundamentales</a:t>
            </a:r>
            <a:endParaRPr sz="1500" dirty="0">
              <a:solidFill>
                <a:srgbClr val="99A0AB"/>
              </a:solidFill>
              <a:latin typeface="Space Grotesk"/>
            </a:endParaRPr>
          </a:p>
          <a:p>
            <a:pPr>
              <a:lnSpc>
                <a:spcPct val="135000"/>
              </a:lnSpc>
              <a:spcAft>
                <a:spcPts val="400"/>
              </a:spcAft>
            </a:pPr>
            <a:r>
              <a:rPr sz="1500" b="1" dirty="0">
                <a:solidFill>
                  <a:srgbClr val="E46A6A"/>
                </a:solidFill>
                <a:latin typeface="Space Grotesk"/>
              </a:rPr>
              <a:t>▪  </a:t>
            </a:r>
            <a:r>
              <a:rPr sz="1500" dirty="0">
                <a:solidFill>
                  <a:srgbClr val="99A0AB"/>
                </a:solidFill>
                <a:latin typeface="Space Grotesk"/>
              </a:rPr>
              <a:t>Sin </a:t>
            </a:r>
            <a:r>
              <a:rPr sz="1500" dirty="0" err="1">
                <a:solidFill>
                  <a:srgbClr val="99A0AB"/>
                </a:solidFill>
                <a:latin typeface="Space Grotesk"/>
              </a:rPr>
              <a:t>historial</a:t>
            </a:r>
            <a:r>
              <a:rPr sz="1500" dirty="0">
                <a:solidFill>
                  <a:srgbClr val="99A0AB"/>
                </a:solidFill>
                <a:latin typeface="Space Grotesk"/>
              </a:rPr>
              <a:t> </a:t>
            </a:r>
            <a:r>
              <a:rPr sz="1500" dirty="0" err="1">
                <a:solidFill>
                  <a:srgbClr val="99A0AB"/>
                </a:solidFill>
                <a:latin typeface="Space Grotesk"/>
              </a:rPr>
              <a:t>fiable</a:t>
            </a:r>
            <a:r>
              <a:rPr sz="1500" dirty="0">
                <a:solidFill>
                  <a:srgbClr val="99A0AB"/>
                </a:solidFill>
                <a:latin typeface="Space Grotesk"/>
              </a:rPr>
              <a:t> de </a:t>
            </a:r>
            <a:r>
              <a:rPr sz="1500" dirty="0" err="1">
                <a:solidFill>
                  <a:srgbClr val="99A0AB"/>
                </a:solidFill>
                <a:latin typeface="Space Grotesk"/>
              </a:rPr>
              <a:t>los</a:t>
            </a:r>
            <a:r>
              <a:rPr sz="1500" dirty="0">
                <a:solidFill>
                  <a:srgbClr val="99A0AB"/>
                </a:solidFill>
                <a:latin typeface="Space Grotesk"/>
              </a:rPr>
              <a:t> </a:t>
            </a:r>
            <a:r>
              <a:rPr sz="1500" dirty="0" err="1">
                <a:solidFill>
                  <a:srgbClr val="99A0AB"/>
                </a:solidFill>
                <a:latin typeface="Space Grotesk"/>
              </a:rPr>
              <a:t>precios</a:t>
            </a:r>
            <a:r>
              <a:rPr sz="1500" dirty="0">
                <a:solidFill>
                  <a:srgbClr val="99A0AB"/>
                </a:solidFill>
                <a:latin typeface="Space Grotesk"/>
              </a:rPr>
              <a:t> </a:t>
            </a:r>
            <a:r>
              <a:rPr sz="1500" dirty="0" err="1">
                <a:solidFill>
                  <a:srgbClr val="99A0AB"/>
                </a:solidFill>
                <a:latin typeface="Space Grotesk"/>
              </a:rPr>
              <a:t>objetivo</a:t>
            </a:r>
            <a:r>
              <a:rPr sz="1500" dirty="0">
                <a:solidFill>
                  <a:srgbClr val="99A0AB"/>
                </a:solidFill>
                <a:latin typeface="Space Grotesk"/>
              </a:rPr>
              <a:t> de </a:t>
            </a:r>
            <a:r>
              <a:rPr sz="1500" dirty="0" err="1">
                <a:solidFill>
                  <a:srgbClr val="99A0AB"/>
                </a:solidFill>
                <a:latin typeface="Space Grotesk"/>
              </a:rPr>
              <a:t>compra</a:t>
            </a:r>
            <a:r>
              <a:rPr sz="1500" dirty="0">
                <a:solidFill>
                  <a:srgbClr val="99A0AB"/>
                </a:solidFill>
                <a:latin typeface="Space Grotesk"/>
              </a:rPr>
              <a:t>/</a:t>
            </a:r>
            <a:r>
              <a:rPr sz="1500" dirty="0" err="1">
                <a:solidFill>
                  <a:srgbClr val="99A0AB"/>
                </a:solidFill>
                <a:latin typeface="Space Grotesk"/>
              </a:rPr>
              <a:t>venta</a:t>
            </a:r>
            <a:r>
              <a:rPr sz="1500" dirty="0">
                <a:solidFill>
                  <a:srgbClr val="99A0AB"/>
                </a:solidFill>
                <a:latin typeface="Space Grotesk"/>
              </a:rPr>
              <a:t> </a:t>
            </a:r>
            <a:r>
              <a:rPr sz="1500" dirty="0" err="1">
                <a:solidFill>
                  <a:srgbClr val="99A0AB"/>
                </a:solidFill>
                <a:latin typeface="Space Grotesk"/>
              </a:rPr>
              <a:t>definidos</a:t>
            </a:r>
            <a:r>
              <a:rPr sz="1500" dirty="0">
                <a:solidFill>
                  <a:srgbClr val="99A0AB"/>
                </a:solidFill>
                <a:latin typeface="Space Grotesk"/>
              </a:rPr>
              <a:t> </a:t>
            </a:r>
            <a:r>
              <a:rPr sz="1500" dirty="0" err="1">
                <a:solidFill>
                  <a:srgbClr val="99A0AB"/>
                </a:solidFill>
                <a:latin typeface="Space Grotesk"/>
              </a:rPr>
              <a:t>en</a:t>
            </a:r>
            <a:r>
              <a:rPr sz="1500" dirty="0">
                <a:solidFill>
                  <a:srgbClr val="99A0AB"/>
                </a:solidFill>
                <a:latin typeface="Space Grotesk"/>
              </a:rPr>
              <a:t> el </a:t>
            </a:r>
            <a:r>
              <a:rPr sz="1500" dirty="0" err="1">
                <a:solidFill>
                  <a:srgbClr val="99A0AB"/>
                </a:solidFill>
                <a:latin typeface="Space Grotesk"/>
              </a:rPr>
              <a:t>pasado</a:t>
            </a:r>
            <a:endParaRPr sz="1500" dirty="0">
              <a:solidFill>
                <a:srgbClr val="99A0AB"/>
              </a:solidFill>
              <a:latin typeface="Space Grotesk"/>
            </a:endParaRPr>
          </a:p>
          <a:p>
            <a:pPr>
              <a:lnSpc>
                <a:spcPct val="135000"/>
              </a:lnSpc>
              <a:spcAft>
                <a:spcPts val="400"/>
              </a:spcAft>
            </a:pPr>
            <a:r>
              <a:rPr sz="1500" b="1" dirty="0">
                <a:solidFill>
                  <a:srgbClr val="E46A6A"/>
                </a:solidFill>
                <a:latin typeface="Space Grotesk"/>
              </a:rPr>
              <a:t>▪  </a:t>
            </a:r>
            <a:r>
              <a:rPr sz="1500" dirty="0" err="1">
                <a:solidFill>
                  <a:srgbClr val="99A0AB"/>
                </a:solidFill>
                <a:latin typeface="Space Grotesk"/>
              </a:rPr>
              <a:t>Analizar</a:t>
            </a:r>
            <a:r>
              <a:rPr sz="1500" dirty="0">
                <a:solidFill>
                  <a:srgbClr val="99A0AB"/>
                </a:solidFill>
                <a:latin typeface="Space Grotesk"/>
              </a:rPr>
              <a:t> </a:t>
            </a:r>
            <a:r>
              <a:rPr sz="1500" dirty="0" err="1">
                <a:solidFill>
                  <a:srgbClr val="99A0AB"/>
                </a:solidFill>
                <a:latin typeface="Space Grotesk"/>
              </a:rPr>
              <a:t>informes</a:t>
            </a:r>
            <a:r>
              <a:rPr sz="1500" dirty="0">
                <a:solidFill>
                  <a:srgbClr val="99A0AB"/>
                </a:solidFill>
                <a:latin typeface="Space Grotesk"/>
              </a:rPr>
              <a:t> </a:t>
            </a:r>
            <a:r>
              <a:rPr sz="1500" dirty="0" err="1">
                <a:solidFill>
                  <a:srgbClr val="99A0AB"/>
                </a:solidFill>
                <a:latin typeface="Space Grotesk"/>
              </a:rPr>
              <a:t>financieros</a:t>
            </a:r>
            <a:r>
              <a:rPr sz="1500" dirty="0">
                <a:solidFill>
                  <a:srgbClr val="99A0AB"/>
                </a:solidFill>
                <a:latin typeface="Space Grotesk"/>
              </a:rPr>
              <a:t> </a:t>
            </a:r>
            <a:r>
              <a:rPr sz="1500" dirty="0" err="1">
                <a:solidFill>
                  <a:srgbClr val="99A0AB"/>
                </a:solidFill>
                <a:latin typeface="Space Grotesk"/>
              </a:rPr>
              <a:t>en</a:t>
            </a:r>
            <a:r>
              <a:rPr sz="1500" dirty="0">
                <a:solidFill>
                  <a:srgbClr val="99A0AB"/>
                </a:solidFill>
                <a:latin typeface="Space Grotesk"/>
              </a:rPr>
              <a:t> PDF consume </a:t>
            </a:r>
            <a:r>
              <a:rPr sz="1500" dirty="0" err="1">
                <a:solidFill>
                  <a:srgbClr val="99A0AB"/>
                </a:solidFill>
                <a:latin typeface="Space Grotesk"/>
              </a:rPr>
              <a:t>tiempo</a:t>
            </a:r>
            <a:r>
              <a:rPr sz="1500" dirty="0">
                <a:solidFill>
                  <a:srgbClr val="99A0AB"/>
                </a:solidFill>
                <a:latin typeface="Space Grotesk"/>
              </a:rPr>
              <a:t> y no </a:t>
            </a:r>
            <a:r>
              <a:rPr sz="1500" dirty="0" err="1">
                <a:solidFill>
                  <a:srgbClr val="99A0AB"/>
                </a:solidFill>
                <a:latin typeface="Space Grotesk"/>
              </a:rPr>
              <a:t>queda</a:t>
            </a:r>
            <a:r>
              <a:rPr sz="1500" dirty="0">
                <a:solidFill>
                  <a:srgbClr val="99A0AB"/>
                </a:solidFill>
                <a:latin typeface="Space Grotesk"/>
              </a:rPr>
              <a:t> </a:t>
            </a:r>
            <a:r>
              <a:rPr sz="1500" dirty="0" err="1">
                <a:solidFill>
                  <a:srgbClr val="99A0AB"/>
                </a:solidFill>
                <a:latin typeface="Space Grotesk"/>
              </a:rPr>
              <a:t>estructurado</a:t>
            </a:r>
            <a:r>
              <a:rPr lang="en-US" sz="1500" dirty="0">
                <a:solidFill>
                  <a:srgbClr val="99A0AB"/>
                </a:solidFill>
                <a:latin typeface="Space Grotesk"/>
              </a:rPr>
              <a:t>.</a:t>
            </a:r>
          </a:p>
          <a:p>
            <a:pPr>
              <a:lnSpc>
                <a:spcPct val="135000"/>
              </a:lnSpc>
              <a:spcAft>
                <a:spcPts val="400"/>
              </a:spcAft>
            </a:pPr>
            <a:r>
              <a:rPr lang="es-ES" sz="1500" b="1" dirty="0">
                <a:solidFill>
                  <a:srgbClr val="E46A6A"/>
                </a:solidFill>
                <a:latin typeface="Space Grotesk"/>
              </a:rPr>
              <a:t>▪  </a:t>
            </a:r>
            <a:r>
              <a:rPr lang="es-ES" sz="1500" dirty="0">
                <a:solidFill>
                  <a:srgbClr val="99A0AB"/>
                </a:solidFill>
                <a:latin typeface="Space Grotesk"/>
              </a:rPr>
              <a:t>Visualizar desde varios </a:t>
            </a:r>
            <a:r>
              <a:rPr lang="es-ES" sz="1500" dirty="0" err="1">
                <a:solidFill>
                  <a:srgbClr val="99A0AB"/>
                </a:solidFill>
                <a:latin typeface="Space Grotesk"/>
              </a:rPr>
              <a:t>brokers</a:t>
            </a:r>
            <a:r>
              <a:rPr lang="es-ES" sz="1500" dirty="0">
                <a:solidFill>
                  <a:srgbClr val="99A0AB"/>
                </a:solidFill>
                <a:latin typeface="Space Grotesk"/>
              </a:rPr>
              <a:t> la cartera con cada uno. </a:t>
            </a:r>
          </a:p>
          <a:p>
            <a:pPr>
              <a:lnSpc>
                <a:spcPct val="135000"/>
              </a:lnSpc>
              <a:spcAft>
                <a:spcPts val="400"/>
              </a:spcAft>
            </a:pPr>
            <a:endParaRPr lang="en-US" sz="1500" dirty="0">
              <a:solidFill>
                <a:srgbClr val="99A0AB"/>
              </a:solidFill>
              <a:latin typeface="Space Grotesk"/>
            </a:endParaRPr>
          </a:p>
        </p:txBody>
      </p:sp>
      <p:sp>
        <p:nvSpPr>
          <p:cNvPr id="10" name="TextBox 9"/>
          <p:cNvSpPr txBox="1"/>
          <p:nvPr/>
        </p:nvSpPr>
        <p:spPr>
          <a:xfrm>
            <a:off x="6355080" y="2240280"/>
            <a:ext cx="4434840" cy="365760"/>
          </a:xfrm>
          <a:prstGeom prst="rect">
            <a:avLst/>
          </a:prstGeom>
          <a:noFill/>
        </p:spPr>
        <p:txBody>
          <a:bodyPr wrap="square" lIns="0" tIns="0" rIns="0" bIns="0" anchor="t">
            <a:spAutoFit/>
          </a:bodyPr>
          <a:lstStyle/>
          <a:p>
            <a:pPr algn="l">
              <a:lnSpc>
                <a:spcPct val="115000"/>
              </a:lnSpc>
            </a:pPr>
            <a:r>
              <a:rPr sz="1300" b="1" i="0">
                <a:solidFill>
                  <a:srgbClr val="4FBF87"/>
                </a:solidFill>
                <a:latin typeface="JetBrains Mono"/>
              </a:rPr>
              <a:t>LA SOLUCIÓN</a:t>
            </a:r>
          </a:p>
        </p:txBody>
      </p:sp>
      <p:sp>
        <p:nvSpPr>
          <p:cNvPr id="11" name="TextBox 10"/>
          <p:cNvSpPr txBox="1"/>
          <p:nvPr/>
        </p:nvSpPr>
        <p:spPr>
          <a:xfrm>
            <a:off x="6355080" y="2743200"/>
            <a:ext cx="4434840" cy="3200400"/>
          </a:xfrm>
          <a:prstGeom prst="rect">
            <a:avLst/>
          </a:prstGeom>
          <a:noFill/>
        </p:spPr>
        <p:txBody>
          <a:bodyPr wrap="square" lIns="0" tIns="0" rIns="0" bIns="0">
            <a:spAutoFit/>
          </a:bodyPr>
          <a:lstStyle/>
          <a:p>
            <a:pPr>
              <a:lnSpc>
                <a:spcPct val="135000"/>
              </a:lnSpc>
              <a:spcAft>
                <a:spcPts val="400"/>
              </a:spcAft>
            </a:pPr>
            <a:r>
              <a:rPr sz="1500" b="1">
                <a:solidFill>
                  <a:srgbClr val="4FBF87"/>
                </a:solidFill>
                <a:latin typeface="Space Grotesk"/>
              </a:rPr>
              <a:t>▪  </a:t>
            </a:r>
            <a:r>
              <a:rPr sz="1500">
                <a:solidFill>
                  <a:srgbClr val="99A0AB"/>
                </a:solidFill>
                <a:latin typeface="Space Grotesk"/>
              </a:rPr>
              <a:t>Una única app web mobile-first centraliza carteras, activos e indicadores</a:t>
            </a:r>
          </a:p>
          <a:p>
            <a:pPr>
              <a:lnSpc>
                <a:spcPct val="135000"/>
              </a:lnSpc>
              <a:spcAft>
                <a:spcPts val="400"/>
              </a:spcAft>
            </a:pPr>
            <a:r>
              <a:rPr sz="1500" b="1">
                <a:solidFill>
                  <a:srgbClr val="4FBF87"/>
                </a:solidFill>
                <a:latin typeface="Space Grotesk"/>
              </a:rPr>
              <a:t>▪  </a:t>
            </a:r>
            <a:r>
              <a:rPr sz="1500">
                <a:solidFill>
                  <a:srgbClr val="99A0AB"/>
                </a:solidFill>
                <a:latin typeface="Space Grotesk"/>
              </a:rPr>
              <a:t>Cálculo automático del rendimiento en moneda base, aislando el efecto del tipo de cambio</a:t>
            </a:r>
          </a:p>
          <a:p>
            <a:pPr>
              <a:lnSpc>
                <a:spcPct val="135000"/>
              </a:lnSpc>
              <a:spcAft>
                <a:spcPts val="400"/>
              </a:spcAft>
            </a:pPr>
            <a:r>
              <a:rPr sz="1500" b="1">
                <a:solidFill>
                  <a:srgbClr val="4FBF87"/>
                </a:solidFill>
                <a:latin typeface="Space Grotesk"/>
              </a:rPr>
              <a:t>▪  </a:t>
            </a:r>
            <a:r>
              <a:rPr sz="1500">
                <a:solidFill>
                  <a:srgbClr val="99A0AB"/>
                </a:solidFill>
                <a:latin typeface="Space Grotesk"/>
              </a:rPr>
              <a:t>Niveles de precio con alertas automáticas e historial inmutable</a:t>
            </a:r>
          </a:p>
          <a:p>
            <a:pPr>
              <a:lnSpc>
                <a:spcPct val="135000"/>
              </a:lnSpc>
              <a:spcAft>
                <a:spcPts val="400"/>
              </a:spcAft>
            </a:pPr>
            <a:r>
              <a:rPr sz="1500" b="1">
                <a:solidFill>
                  <a:srgbClr val="4FBF87"/>
                </a:solidFill>
                <a:latin typeface="Space Grotesk"/>
              </a:rPr>
              <a:t>▪  </a:t>
            </a:r>
            <a:r>
              <a:rPr sz="1500">
                <a:solidFill>
                  <a:srgbClr val="99A0AB"/>
                </a:solidFill>
                <a:latin typeface="Space Grotesk"/>
              </a:rPr>
              <a:t>IA que extrae señales y métricas directamente de los informes en PDF</a:t>
            </a:r>
          </a:p>
        </p:txBody>
      </p:sp>
      <p:sp>
        <p:nvSpPr>
          <p:cNvPr id="12" name="TextBox 11"/>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3" name="TextBox 12"/>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01 · VISIÓN</a:t>
            </a:r>
          </a:p>
        </p:txBody>
      </p:sp>
      <p:sp>
        <p:nvSpPr>
          <p:cNvPr id="14" name="TextBox 13"/>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03</a:t>
            </a:r>
          </a:p>
        </p:txBody>
      </p:sp>
      <p:sp>
        <p:nvSpPr>
          <p:cNvPr id="15" name="Rectangle 14"/>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01 · VISIÓN</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Por qué esta solución es diferente</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965960"/>
            <a:ext cx="5074920" cy="1207008"/>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30552"/>
            <a:ext cx="457200" cy="457200"/>
          </a:xfrm>
          <a:prstGeom prst="rect">
            <a:avLst/>
          </a:prstGeom>
          <a:noFill/>
        </p:spPr>
        <p:txBody>
          <a:bodyPr wrap="square" lIns="0" tIns="0" rIns="0" bIns="0" anchor="t">
            <a:spAutoFit/>
          </a:bodyPr>
          <a:lstStyle/>
          <a:p>
            <a:pPr algn="l">
              <a:lnSpc>
                <a:spcPct val="115000"/>
              </a:lnSpc>
            </a:pPr>
            <a:r>
              <a:rPr sz="1800" b="1" i="0">
                <a:solidFill>
                  <a:srgbClr val="C9A45C"/>
                </a:solidFill>
                <a:latin typeface="JetBrains Mono"/>
              </a:rPr>
              <a:t>◆</a:t>
            </a:r>
          </a:p>
        </p:txBody>
      </p:sp>
      <p:sp>
        <p:nvSpPr>
          <p:cNvPr id="8" name="TextBox 7"/>
          <p:cNvSpPr txBox="1"/>
          <p:nvPr/>
        </p:nvSpPr>
        <p:spPr>
          <a:xfrm>
            <a:off x="1417320" y="2148840"/>
            <a:ext cx="4069080" cy="914400"/>
          </a:xfrm>
          <a:prstGeom prst="rect">
            <a:avLst/>
          </a:prstGeom>
          <a:noFill/>
        </p:spPr>
        <p:txBody>
          <a:bodyPr wrap="square" lIns="0" tIns="0" rIns="0" bIns="0">
            <a:spAutoFit/>
          </a:bodyPr>
          <a:lstStyle/>
          <a:p>
            <a:pPr>
              <a:lnSpc>
                <a:spcPct val="115000"/>
              </a:lnSpc>
              <a:spcAft>
                <a:spcPts val="400"/>
              </a:spcAft>
            </a:pPr>
            <a:r>
              <a:rPr sz="1350" b="1">
                <a:solidFill>
                  <a:srgbClr val="C9A45C"/>
                </a:solidFill>
                <a:latin typeface="Space Grotesk"/>
              </a:rPr>
              <a:t>  </a:t>
            </a:r>
            <a:r>
              <a:rPr sz="1350" b="1">
                <a:solidFill>
                  <a:srgbClr val="E7E9ED"/>
                </a:solidFill>
                <a:latin typeface="Space Grotesk"/>
              </a:rPr>
              <a:t>Todo en un solo lugar.</a:t>
            </a:r>
            <a:r>
              <a:rPr sz="1350">
                <a:solidFill>
                  <a:srgbClr val="99A0AB"/>
                </a:solidFill>
                <a:latin typeface="Space Grotesk"/>
              </a:rPr>
              <a:t> Cartera, activos, indicadores, alertas e informes conectados entre sí.</a:t>
            </a:r>
          </a:p>
        </p:txBody>
      </p:sp>
      <p:sp>
        <p:nvSpPr>
          <p:cNvPr id="9" name="Rounded Rectangle 8"/>
          <p:cNvSpPr/>
          <p:nvPr/>
        </p:nvSpPr>
        <p:spPr>
          <a:xfrm>
            <a:off x="6016752" y="1965960"/>
            <a:ext cx="5074920" cy="1207008"/>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91072" y="2130552"/>
            <a:ext cx="457200" cy="457200"/>
          </a:xfrm>
          <a:prstGeom prst="rect">
            <a:avLst/>
          </a:prstGeom>
          <a:noFill/>
        </p:spPr>
        <p:txBody>
          <a:bodyPr wrap="square" lIns="0" tIns="0" rIns="0" bIns="0" anchor="t">
            <a:spAutoFit/>
          </a:bodyPr>
          <a:lstStyle/>
          <a:p>
            <a:pPr algn="l">
              <a:lnSpc>
                <a:spcPct val="115000"/>
              </a:lnSpc>
            </a:pPr>
            <a:r>
              <a:rPr sz="1800" b="1" i="0">
                <a:solidFill>
                  <a:srgbClr val="C9A45C"/>
                </a:solidFill>
                <a:latin typeface="JetBrains Mono"/>
              </a:rPr>
              <a:t>◆</a:t>
            </a:r>
          </a:p>
        </p:txBody>
      </p:sp>
      <p:sp>
        <p:nvSpPr>
          <p:cNvPr id="11" name="TextBox 10"/>
          <p:cNvSpPr txBox="1"/>
          <p:nvPr/>
        </p:nvSpPr>
        <p:spPr>
          <a:xfrm>
            <a:off x="6748272" y="2148840"/>
            <a:ext cx="4069080" cy="914400"/>
          </a:xfrm>
          <a:prstGeom prst="rect">
            <a:avLst/>
          </a:prstGeom>
          <a:noFill/>
        </p:spPr>
        <p:txBody>
          <a:bodyPr wrap="square" lIns="0" tIns="0" rIns="0" bIns="0">
            <a:spAutoFit/>
          </a:bodyPr>
          <a:lstStyle/>
          <a:p>
            <a:pPr>
              <a:lnSpc>
                <a:spcPct val="115000"/>
              </a:lnSpc>
              <a:spcAft>
                <a:spcPts val="400"/>
              </a:spcAft>
            </a:pPr>
            <a:r>
              <a:rPr sz="1350" b="1">
                <a:solidFill>
                  <a:srgbClr val="C9A45C"/>
                </a:solidFill>
                <a:latin typeface="Space Grotesk"/>
              </a:rPr>
              <a:t>  </a:t>
            </a:r>
            <a:r>
              <a:rPr sz="1350" b="1">
                <a:solidFill>
                  <a:srgbClr val="E7E9ED"/>
                </a:solidFill>
                <a:latin typeface="Space Grotesk"/>
              </a:rPr>
              <a:t>Resiliencia de datos.</a:t>
            </a:r>
            <a:r>
              <a:rPr sz="1350">
                <a:solidFill>
                  <a:srgbClr val="99A0AB"/>
                </a:solidFill>
                <a:latin typeface="Space Grotesk"/>
              </a:rPr>
              <a:t> Cascada automática de proveedores de mercado, sin intervención manual ante fallos.</a:t>
            </a:r>
          </a:p>
        </p:txBody>
      </p:sp>
      <p:sp>
        <p:nvSpPr>
          <p:cNvPr id="12" name="Rounded Rectangle 11"/>
          <p:cNvSpPr/>
          <p:nvPr/>
        </p:nvSpPr>
        <p:spPr>
          <a:xfrm>
            <a:off x="685800" y="3319272"/>
            <a:ext cx="5074920" cy="1207008"/>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3483864"/>
            <a:ext cx="457200" cy="457200"/>
          </a:xfrm>
          <a:prstGeom prst="rect">
            <a:avLst/>
          </a:prstGeom>
          <a:noFill/>
        </p:spPr>
        <p:txBody>
          <a:bodyPr wrap="square" lIns="0" tIns="0" rIns="0" bIns="0" anchor="t">
            <a:spAutoFit/>
          </a:bodyPr>
          <a:lstStyle/>
          <a:p>
            <a:pPr algn="l">
              <a:lnSpc>
                <a:spcPct val="115000"/>
              </a:lnSpc>
            </a:pPr>
            <a:r>
              <a:rPr sz="1800" b="1" i="0">
                <a:solidFill>
                  <a:srgbClr val="C9A45C"/>
                </a:solidFill>
                <a:latin typeface="JetBrains Mono"/>
              </a:rPr>
              <a:t>◆</a:t>
            </a:r>
          </a:p>
        </p:txBody>
      </p:sp>
      <p:sp>
        <p:nvSpPr>
          <p:cNvPr id="14" name="TextBox 13"/>
          <p:cNvSpPr txBox="1"/>
          <p:nvPr/>
        </p:nvSpPr>
        <p:spPr>
          <a:xfrm>
            <a:off x="1417320" y="3502152"/>
            <a:ext cx="4069080" cy="914400"/>
          </a:xfrm>
          <a:prstGeom prst="rect">
            <a:avLst/>
          </a:prstGeom>
          <a:noFill/>
        </p:spPr>
        <p:txBody>
          <a:bodyPr wrap="square" lIns="0" tIns="0" rIns="0" bIns="0">
            <a:spAutoFit/>
          </a:bodyPr>
          <a:lstStyle/>
          <a:p>
            <a:pPr>
              <a:lnSpc>
                <a:spcPct val="115000"/>
              </a:lnSpc>
              <a:spcAft>
                <a:spcPts val="400"/>
              </a:spcAft>
            </a:pPr>
            <a:r>
              <a:rPr sz="1350" b="1">
                <a:solidFill>
                  <a:srgbClr val="C9A45C"/>
                </a:solidFill>
                <a:latin typeface="Space Grotesk"/>
              </a:rPr>
              <a:t>  </a:t>
            </a:r>
            <a:r>
              <a:rPr sz="1350" b="1">
                <a:solidFill>
                  <a:srgbClr val="E7E9ED"/>
                </a:solidFill>
                <a:latin typeface="Space Grotesk"/>
              </a:rPr>
              <a:t>IA aplicada, no decorativa.</a:t>
            </a:r>
            <a:r>
              <a:rPr sz="1350">
                <a:solidFill>
                  <a:srgbClr val="99A0AB"/>
                </a:solidFill>
                <a:latin typeface="Space Grotesk"/>
              </a:rPr>
              <a:t> Extracción real de señales financieras desde PDF, con 3 proveedores intercambiables.</a:t>
            </a:r>
          </a:p>
        </p:txBody>
      </p:sp>
      <p:sp>
        <p:nvSpPr>
          <p:cNvPr id="15" name="Rounded Rectangle 14"/>
          <p:cNvSpPr/>
          <p:nvPr/>
        </p:nvSpPr>
        <p:spPr>
          <a:xfrm>
            <a:off x="6016752" y="3319272"/>
            <a:ext cx="5074920" cy="1207008"/>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1072" y="3483864"/>
            <a:ext cx="457200" cy="457200"/>
          </a:xfrm>
          <a:prstGeom prst="rect">
            <a:avLst/>
          </a:prstGeom>
          <a:noFill/>
        </p:spPr>
        <p:txBody>
          <a:bodyPr wrap="square" lIns="0" tIns="0" rIns="0" bIns="0" anchor="t">
            <a:spAutoFit/>
          </a:bodyPr>
          <a:lstStyle/>
          <a:p>
            <a:pPr algn="l">
              <a:lnSpc>
                <a:spcPct val="115000"/>
              </a:lnSpc>
            </a:pPr>
            <a:r>
              <a:rPr sz="1800" b="1" i="0">
                <a:solidFill>
                  <a:srgbClr val="C9A45C"/>
                </a:solidFill>
                <a:latin typeface="JetBrains Mono"/>
              </a:rPr>
              <a:t>◆</a:t>
            </a:r>
          </a:p>
        </p:txBody>
      </p:sp>
      <p:sp>
        <p:nvSpPr>
          <p:cNvPr id="17" name="TextBox 16"/>
          <p:cNvSpPr txBox="1"/>
          <p:nvPr/>
        </p:nvSpPr>
        <p:spPr>
          <a:xfrm>
            <a:off x="6748272" y="3502152"/>
            <a:ext cx="4069080" cy="914400"/>
          </a:xfrm>
          <a:prstGeom prst="rect">
            <a:avLst/>
          </a:prstGeom>
          <a:noFill/>
        </p:spPr>
        <p:txBody>
          <a:bodyPr wrap="square" lIns="0" tIns="0" rIns="0" bIns="0">
            <a:spAutoFit/>
          </a:bodyPr>
          <a:lstStyle/>
          <a:p>
            <a:pPr>
              <a:lnSpc>
                <a:spcPct val="115000"/>
              </a:lnSpc>
              <a:spcAft>
                <a:spcPts val="400"/>
              </a:spcAft>
            </a:pPr>
            <a:r>
              <a:rPr sz="1350" b="1">
                <a:solidFill>
                  <a:srgbClr val="C9A45C"/>
                </a:solidFill>
                <a:latin typeface="Space Grotesk"/>
              </a:rPr>
              <a:t>  </a:t>
            </a:r>
            <a:r>
              <a:rPr sz="1350" b="1">
                <a:solidFill>
                  <a:srgbClr val="E7E9ED"/>
                </a:solidFill>
                <a:latin typeface="Space Grotesk"/>
              </a:rPr>
              <a:t>Seguridad de nivel empresarial.</a:t>
            </a:r>
            <a:r>
              <a:rPr sz="1350">
                <a:solidFill>
                  <a:srgbClr val="99A0AB"/>
                </a:solidFill>
                <a:latin typeface="Space Grotesk"/>
              </a:rPr>
              <a:t> Control de acceso basado en roles, granular, en cada operación del backend.</a:t>
            </a:r>
          </a:p>
        </p:txBody>
      </p:sp>
      <p:sp>
        <p:nvSpPr>
          <p:cNvPr id="18" name="Rounded Rectangle 17"/>
          <p:cNvSpPr/>
          <p:nvPr/>
        </p:nvSpPr>
        <p:spPr>
          <a:xfrm>
            <a:off x="685800" y="4672584"/>
            <a:ext cx="5074920" cy="1207008"/>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837176"/>
            <a:ext cx="457200" cy="457200"/>
          </a:xfrm>
          <a:prstGeom prst="rect">
            <a:avLst/>
          </a:prstGeom>
          <a:noFill/>
        </p:spPr>
        <p:txBody>
          <a:bodyPr wrap="square" lIns="0" tIns="0" rIns="0" bIns="0" anchor="t">
            <a:spAutoFit/>
          </a:bodyPr>
          <a:lstStyle/>
          <a:p>
            <a:pPr algn="l">
              <a:lnSpc>
                <a:spcPct val="115000"/>
              </a:lnSpc>
            </a:pPr>
            <a:r>
              <a:rPr sz="1800" b="1" i="0">
                <a:solidFill>
                  <a:srgbClr val="C9A45C"/>
                </a:solidFill>
                <a:latin typeface="JetBrains Mono"/>
              </a:rPr>
              <a:t>◆</a:t>
            </a:r>
          </a:p>
        </p:txBody>
      </p:sp>
      <p:sp>
        <p:nvSpPr>
          <p:cNvPr id="20" name="TextBox 19"/>
          <p:cNvSpPr txBox="1"/>
          <p:nvPr/>
        </p:nvSpPr>
        <p:spPr>
          <a:xfrm>
            <a:off x="1417320" y="4855464"/>
            <a:ext cx="4069080" cy="914400"/>
          </a:xfrm>
          <a:prstGeom prst="rect">
            <a:avLst/>
          </a:prstGeom>
          <a:noFill/>
        </p:spPr>
        <p:txBody>
          <a:bodyPr wrap="square" lIns="0" tIns="0" rIns="0" bIns="0">
            <a:spAutoFit/>
          </a:bodyPr>
          <a:lstStyle/>
          <a:p>
            <a:pPr>
              <a:lnSpc>
                <a:spcPct val="115000"/>
              </a:lnSpc>
              <a:spcAft>
                <a:spcPts val="400"/>
              </a:spcAft>
            </a:pPr>
            <a:r>
              <a:rPr sz="1350" b="1">
                <a:solidFill>
                  <a:srgbClr val="C9A45C"/>
                </a:solidFill>
                <a:latin typeface="Space Grotesk"/>
              </a:rPr>
              <a:t>  </a:t>
            </a:r>
            <a:r>
              <a:rPr sz="1350" b="1">
                <a:solidFill>
                  <a:srgbClr val="E7E9ED"/>
                </a:solidFill>
                <a:latin typeface="Space Grotesk"/>
              </a:rPr>
              <a:t>Multiidioma desde el diseño.</a:t>
            </a:r>
            <a:r>
              <a:rPr sz="1350">
                <a:solidFill>
                  <a:srgbClr val="99A0AB"/>
                </a:solidFill>
                <a:latin typeface="Space Grotesk"/>
              </a:rPr>
              <a:t> Español e inglés, sin texto embebido en el código.</a:t>
            </a:r>
          </a:p>
        </p:txBody>
      </p:sp>
      <p:sp>
        <p:nvSpPr>
          <p:cNvPr id="21" name="Rounded Rectangle 20"/>
          <p:cNvSpPr/>
          <p:nvPr/>
        </p:nvSpPr>
        <p:spPr>
          <a:xfrm>
            <a:off x="6016752" y="4672584"/>
            <a:ext cx="5074920" cy="1207008"/>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91072" y="4837176"/>
            <a:ext cx="457200" cy="457200"/>
          </a:xfrm>
          <a:prstGeom prst="rect">
            <a:avLst/>
          </a:prstGeom>
          <a:noFill/>
        </p:spPr>
        <p:txBody>
          <a:bodyPr wrap="square" lIns="0" tIns="0" rIns="0" bIns="0" anchor="t">
            <a:spAutoFit/>
          </a:bodyPr>
          <a:lstStyle/>
          <a:p>
            <a:pPr algn="l">
              <a:lnSpc>
                <a:spcPct val="115000"/>
              </a:lnSpc>
            </a:pPr>
            <a:r>
              <a:rPr sz="1800" b="1" i="0">
                <a:solidFill>
                  <a:srgbClr val="C9A45C"/>
                </a:solidFill>
                <a:latin typeface="JetBrains Mono"/>
              </a:rPr>
              <a:t>◆</a:t>
            </a:r>
          </a:p>
        </p:txBody>
      </p:sp>
      <p:sp>
        <p:nvSpPr>
          <p:cNvPr id="23" name="TextBox 22"/>
          <p:cNvSpPr txBox="1"/>
          <p:nvPr/>
        </p:nvSpPr>
        <p:spPr>
          <a:xfrm>
            <a:off x="6748272" y="4855464"/>
            <a:ext cx="4069080" cy="914400"/>
          </a:xfrm>
          <a:prstGeom prst="rect">
            <a:avLst/>
          </a:prstGeom>
          <a:noFill/>
        </p:spPr>
        <p:txBody>
          <a:bodyPr wrap="square" lIns="0" tIns="0" rIns="0" bIns="0">
            <a:spAutoFit/>
          </a:bodyPr>
          <a:lstStyle/>
          <a:p>
            <a:pPr>
              <a:lnSpc>
                <a:spcPct val="115000"/>
              </a:lnSpc>
              <a:spcAft>
                <a:spcPts val="400"/>
              </a:spcAft>
            </a:pPr>
            <a:r>
              <a:rPr sz="1350" b="1">
                <a:solidFill>
                  <a:srgbClr val="C9A45C"/>
                </a:solidFill>
                <a:latin typeface="Space Grotesk"/>
              </a:rPr>
              <a:t>  </a:t>
            </a:r>
            <a:r>
              <a:rPr sz="1350" b="1">
                <a:solidFill>
                  <a:srgbClr val="E7E9ED"/>
                </a:solidFill>
                <a:latin typeface="Space Grotesk"/>
              </a:rPr>
              <a:t>Cero deuda técnica de framework.</a:t>
            </a:r>
            <a:r>
              <a:rPr sz="1350">
                <a:solidFill>
                  <a:srgbClr val="99A0AB"/>
                </a:solidFill>
                <a:latin typeface="Space Grotesk"/>
              </a:rPr>
              <a:t> Estándares web nativos: sin lock-in, sin reescrituras futuras forzadas.</a:t>
            </a:r>
          </a:p>
        </p:txBody>
      </p:sp>
      <p:sp>
        <p:nvSpPr>
          <p:cNvPr id="24" name="TextBox 23"/>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25" name="TextBox 24"/>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01 · VISIÓN</a:t>
            </a:r>
          </a:p>
        </p:txBody>
      </p:sp>
      <p:sp>
        <p:nvSpPr>
          <p:cNvPr id="26" name="TextBox 25"/>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04</a:t>
            </a:r>
          </a:p>
        </p:txBody>
      </p:sp>
      <p:sp>
        <p:nvSpPr>
          <p:cNvPr id="27" name="Rectangle 26"/>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02</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Arquitectura y stack tecnológico</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Cómo está construida la aplicación de punta a punta</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02 · ARQUITECTURA</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05</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02 · ARQUITECTURA</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Vista general del sistema</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874519"/>
            <a:ext cx="2468880" cy="96012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874519"/>
            <a:ext cx="54864" cy="9601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993391"/>
            <a:ext cx="2103120" cy="365760"/>
          </a:xfrm>
          <a:prstGeom prst="rect">
            <a:avLst/>
          </a:prstGeom>
          <a:noFill/>
        </p:spPr>
        <p:txBody>
          <a:bodyPr wrap="square" lIns="0" tIns="0" rIns="0" bIns="0" anchor="t">
            <a:spAutoFit/>
          </a:bodyPr>
          <a:lstStyle/>
          <a:p>
            <a:pPr algn="l">
              <a:lnSpc>
                <a:spcPct val="115000"/>
              </a:lnSpc>
            </a:pPr>
            <a:r>
              <a:rPr sz="1350" b="1" i="0">
                <a:solidFill>
                  <a:srgbClr val="E7E9ED"/>
                </a:solidFill>
                <a:latin typeface="Space Grotesk"/>
              </a:rPr>
              <a:t>FRONTEND</a:t>
            </a:r>
          </a:p>
        </p:txBody>
      </p:sp>
      <p:sp>
        <p:nvSpPr>
          <p:cNvPr id="9" name="TextBox 8"/>
          <p:cNvSpPr txBox="1"/>
          <p:nvPr/>
        </p:nvSpPr>
        <p:spPr>
          <a:xfrm>
            <a:off x="886968" y="2359151"/>
            <a:ext cx="2103120" cy="411480"/>
          </a:xfrm>
          <a:prstGeom prst="rect">
            <a:avLst/>
          </a:prstGeom>
          <a:noFill/>
        </p:spPr>
        <p:txBody>
          <a:bodyPr wrap="square" lIns="0" tIns="0" rIns="0" bIns="0" anchor="t">
            <a:spAutoFit/>
          </a:bodyPr>
          <a:lstStyle/>
          <a:p>
            <a:pPr algn="l">
              <a:lnSpc>
                <a:spcPct val="125000"/>
              </a:lnSpc>
            </a:pPr>
            <a:r>
              <a:rPr sz="1050" b="0" i="0">
                <a:solidFill>
                  <a:srgbClr val="99A0AB"/>
                </a:solidFill>
                <a:latin typeface="JetBrains Mono"/>
              </a:rPr>
              <a:t>TypeScript · Vite</a:t>
            </a:r>
          </a:p>
          <a:p>
            <a:pPr algn="l">
              <a:lnSpc>
                <a:spcPct val="125000"/>
              </a:lnSpc>
            </a:pPr>
            <a:r>
              <a:rPr sz="1050" b="0" i="0">
                <a:solidFill>
                  <a:srgbClr val="99A0AB"/>
                </a:solidFill>
                <a:latin typeface="JetBrains Mono"/>
              </a:rPr>
              <a:t>Web Components + signals</a:t>
            </a:r>
          </a:p>
        </p:txBody>
      </p:sp>
      <p:sp>
        <p:nvSpPr>
          <p:cNvPr id="10" name="TextBox 9"/>
          <p:cNvSpPr txBox="1"/>
          <p:nvPr/>
        </p:nvSpPr>
        <p:spPr>
          <a:xfrm>
            <a:off x="3154680" y="1874519"/>
            <a:ext cx="502920" cy="960120"/>
          </a:xfrm>
          <a:prstGeom prst="rect">
            <a:avLst/>
          </a:prstGeom>
          <a:noFill/>
        </p:spPr>
        <p:txBody>
          <a:bodyPr wrap="square" lIns="0" tIns="0" rIns="0" bIns="0" anchor="ctr">
            <a:spAutoFit/>
          </a:bodyPr>
          <a:lstStyle/>
          <a:p>
            <a:pPr algn="ctr">
              <a:lnSpc>
                <a:spcPct val="115000"/>
              </a:lnSpc>
            </a:pPr>
            <a:r>
              <a:rPr sz="2600" b="1" i="0">
                <a:solidFill>
                  <a:srgbClr val="C9A45C"/>
                </a:solidFill>
                <a:latin typeface="JetBrains Mono"/>
              </a:rPr>
              <a:t>→</a:t>
            </a:r>
          </a:p>
        </p:txBody>
      </p:sp>
      <p:sp>
        <p:nvSpPr>
          <p:cNvPr id="11" name="Rounded Rectangle 10"/>
          <p:cNvSpPr/>
          <p:nvPr/>
        </p:nvSpPr>
        <p:spPr>
          <a:xfrm>
            <a:off x="3657600" y="1874519"/>
            <a:ext cx="2468880" cy="96012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0" y="1874519"/>
            <a:ext cx="54864" cy="9601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58768" y="1993391"/>
            <a:ext cx="2103120" cy="365760"/>
          </a:xfrm>
          <a:prstGeom prst="rect">
            <a:avLst/>
          </a:prstGeom>
          <a:noFill/>
        </p:spPr>
        <p:txBody>
          <a:bodyPr wrap="square" lIns="0" tIns="0" rIns="0" bIns="0" anchor="t">
            <a:spAutoFit/>
          </a:bodyPr>
          <a:lstStyle/>
          <a:p>
            <a:pPr algn="l">
              <a:lnSpc>
                <a:spcPct val="115000"/>
              </a:lnSpc>
            </a:pPr>
            <a:r>
              <a:rPr sz="1350" b="1" i="0">
                <a:solidFill>
                  <a:srgbClr val="E7E9ED"/>
                </a:solidFill>
                <a:latin typeface="Space Grotesk"/>
              </a:rPr>
              <a:t>BACKEND API</a:t>
            </a:r>
          </a:p>
        </p:txBody>
      </p:sp>
      <p:sp>
        <p:nvSpPr>
          <p:cNvPr id="14" name="TextBox 13"/>
          <p:cNvSpPr txBox="1"/>
          <p:nvPr/>
        </p:nvSpPr>
        <p:spPr>
          <a:xfrm>
            <a:off x="3858768" y="2359151"/>
            <a:ext cx="2103120" cy="411480"/>
          </a:xfrm>
          <a:prstGeom prst="rect">
            <a:avLst/>
          </a:prstGeom>
          <a:noFill/>
        </p:spPr>
        <p:txBody>
          <a:bodyPr wrap="square" lIns="0" tIns="0" rIns="0" bIns="0" anchor="t">
            <a:spAutoFit/>
          </a:bodyPr>
          <a:lstStyle/>
          <a:p>
            <a:pPr algn="l">
              <a:lnSpc>
                <a:spcPct val="125000"/>
              </a:lnSpc>
            </a:pPr>
            <a:r>
              <a:rPr sz="1050" b="0" i="0">
                <a:solidFill>
                  <a:srgbClr val="99A0AB"/>
                </a:solidFill>
                <a:latin typeface="JetBrains Mono"/>
              </a:rPr>
              <a:t>FastAPI · Pydantic v2</a:t>
            </a:r>
          </a:p>
          <a:p>
            <a:pPr algn="l">
              <a:lnSpc>
                <a:spcPct val="125000"/>
              </a:lnSpc>
            </a:pPr>
            <a:r>
              <a:rPr sz="1050" b="0" i="0">
                <a:solidFill>
                  <a:srgbClr val="99A0AB"/>
                </a:solidFill>
                <a:latin typeface="JetBrains Mono"/>
              </a:rPr>
              <a:t>JWT + RBAC</a:t>
            </a:r>
          </a:p>
        </p:txBody>
      </p:sp>
      <p:sp>
        <p:nvSpPr>
          <p:cNvPr id="15" name="TextBox 14"/>
          <p:cNvSpPr txBox="1"/>
          <p:nvPr/>
        </p:nvSpPr>
        <p:spPr>
          <a:xfrm>
            <a:off x="6126480" y="1874519"/>
            <a:ext cx="502920" cy="960120"/>
          </a:xfrm>
          <a:prstGeom prst="rect">
            <a:avLst/>
          </a:prstGeom>
          <a:noFill/>
        </p:spPr>
        <p:txBody>
          <a:bodyPr wrap="square" lIns="0" tIns="0" rIns="0" bIns="0" anchor="ctr">
            <a:spAutoFit/>
          </a:bodyPr>
          <a:lstStyle/>
          <a:p>
            <a:pPr algn="ctr">
              <a:lnSpc>
                <a:spcPct val="115000"/>
              </a:lnSpc>
            </a:pPr>
            <a:r>
              <a:rPr sz="2600" b="1" i="0">
                <a:solidFill>
                  <a:srgbClr val="C9A45C"/>
                </a:solidFill>
                <a:latin typeface="JetBrains Mono"/>
              </a:rPr>
              <a:t>→</a:t>
            </a:r>
          </a:p>
        </p:txBody>
      </p:sp>
      <p:sp>
        <p:nvSpPr>
          <p:cNvPr id="16" name="Rounded Rectangle 15"/>
          <p:cNvSpPr/>
          <p:nvPr/>
        </p:nvSpPr>
        <p:spPr>
          <a:xfrm>
            <a:off x="6629400" y="1874519"/>
            <a:ext cx="2468880" cy="96012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629400" y="1874519"/>
            <a:ext cx="54864" cy="9601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30568" y="1993391"/>
            <a:ext cx="2103120" cy="365760"/>
          </a:xfrm>
          <a:prstGeom prst="rect">
            <a:avLst/>
          </a:prstGeom>
          <a:noFill/>
        </p:spPr>
        <p:txBody>
          <a:bodyPr wrap="square" lIns="0" tIns="0" rIns="0" bIns="0" anchor="t">
            <a:spAutoFit/>
          </a:bodyPr>
          <a:lstStyle/>
          <a:p>
            <a:pPr algn="l">
              <a:lnSpc>
                <a:spcPct val="115000"/>
              </a:lnSpc>
            </a:pPr>
            <a:r>
              <a:rPr sz="1350" b="1" i="0">
                <a:solidFill>
                  <a:srgbClr val="E7E9ED"/>
                </a:solidFill>
                <a:latin typeface="Space Grotesk"/>
              </a:rPr>
              <a:t>POSTGRESQL 16</a:t>
            </a:r>
          </a:p>
        </p:txBody>
      </p:sp>
      <p:sp>
        <p:nvSpPr>
          <p:cNvPr id="19" name="TextBox 18"/>
          <p:cNvSpPr txBox="1"/>
          <p:nvPr/>
        </p:nvSpPr>
        <p:spPr>
          <a:xfrm>
            <a:off x="6830568" y="2359151"/>
            <a:ext cx="2103120" cy="187039"/>
          </a:xfrm>
          <a:prstGeom prst="rect">
            <a:avLst/>
          </a:prstGeom>
          <a:noFill/>
        </p:spPr>
        <p:txBody>
          <a:bodyPr wrap="square" lIns="0" tIns="0" rIns="0" bIns="0" anchor="t">
            <a:spAutoFit/>
          </a:bodyPr>
          <a:lstStyle/>
          <a:p>
            <a:pPr algn="l">
              <a:lnSpc>
                <a:spcPct val="125000"/>
              </a:lnSpc>
            </a:pPr>
            <a:r>
              <a:rPr sz="1050" b="0" i="0" dirty="0" err="1">
                <a:solidFill>
                  <a:srgbClr val="99A0AB"/>
                </a:solidFill>
                <a:latin typeface="JetBrains Mono"/>
              </a:rPr>
              <a:t>SQLAlchemy</a:t>
            </a:r>
            <a:r>
              <a:rPr sz="1050" b="0" i="0" dirty="0">
                <a:solidFill>
                  <a:srgbClr val="99A0AB"/>
                </a:solidFill>
                <a:latin typeface="JetBrains Mono"/>
              </a:rPr>
              <a:t> + Alembic</a:t>
            </a:r>
          </a:p>
        </p:txBody>
      </p:sp>
      <p:sp>
        <p:nvSpPr>
          <p:cNvPr id="20" name="TextBox 19"/>
          <p:cNvSpPr txBox="1"/>
          <p:nvPr/>
        </p:nvSpPr>
        <p:spPr>
          <a:xfrm>
            <a:off x="3657600" y="2834639"/>
            <a:ext cx="2468880" cy="365760"/>
          </a:xfrm>
          <a:prstGeom prst="rect">
            <a:avLst/>
          </a:prstGeom>
          <a:noFill/>
        </p:spPr>
        <p:txBody>
          <a:bodyPr wrap="square" lIns="0" tIns="0" rIns="0" bIns="0" anchor="ctr">
            <a:spAutoFit/>
          </a:bodyPr>
          <a:lstStyle/>
          <a:p>
            <a:pPr algn="ctr">
              <a:lnSpc>
                <a:spcPct val="115000"/>
              </a:lnSpc>
            </a:pPr>
            <a:r>
              <a:rPr sz="1800" b="1" i="0">
                <a:solidFill>
                  <a:srgbClr val="C9A45C"/>
                </a:solidFill>
                <a:latin typeface="JetBrains Mono"/>
              </a:rPr>
              <a:t>↓</a:t>
            </a:r>
          </a:p>
        </p:txBody>
      </p:sp>
      <p:sp>
        <p:nvSpPr>
          <p:cNvPr id="21" name="Rounded Rectangle 20"/>
          <p:cNvSpPr/>
          <p:nvPr/>
        </p:nvSpPr>
        <p:spPr>
          <a:xfrm>
            <a:off x="3657600" y="3291839"/>
            <a:ext cx="2468880" cy="96012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0" y="3291839"/>
            <a:ext cx="54864" cy="9601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58768" y="3410711"/>
            <a:ext cx="2103120" cy="365760"/>
          </a:xfrm>
          <a:prstGeom prst="rect">
            <a:avLst/>
          </a:prstGeom>
          <a:noFill/>
        </p:spPr>
        <p:txBody>
          <a:bodyPr wrap="square" lIns="0" tIns="0" rIns="0" bIns="0" anchor="t">
            <a:spAutoFit/>
          </a:bodyPr>
          <a:lstStyle/>
          <a:p>
            <a:pPr algn="l">
              <a:lnSpc>
                <a:spcPct val="115000"/>
              </a:lnSpc>
            </a:pPr>
            <a:r>
              <a:rPr sz="1350" b="1" i="0">
                <a:solidFill>
                  <a:srgbClr val="E7E9ED"/>
                </a:solidFill>
                <a:latin typeface="Space Grotesk"/>
              </a:rPr>
              <a:t>CELERY + REDIS</a:t>
            </a:r>
          </a:p>
        </p:txBody>
      </p:sp>
      <p:sp>
        <p:nvSpPr>
          <p:cNvPr id="24" name="TextBox 23"/>
          <p:cNvSpPr txBox="1"/>
          <p:nvPr/>
        </p:nvSpPr>
        <p:spPr>
          <a:xfrm>
            <a:off x="3858768" y="3776471"/>
            <a:ext cx="2103120" cy="411480"/>
          </a:xfrm>
          <a:prstGeom prst="rect">
            <a:avLst/>
          </a:prstGeom>
          <a:noFill/>
        </p:spPr>
        <p:txBody>
          <a:bodyPr wrap="square" lIns="0" tIns="0" rIns="0" bIns="0" anchor="t">
            <a:spAutoFit/>
          </a:bodyPr>
          <a:lstStyle/>
          <a:p>
            <a:pPr algn="l">
              <a:lnSpc>
                <a:spcPct val="125000"/>
              </a:lnSpc>
            </a:pPr>
            <a:r>
              <a:rPr sz="1050" b="0" i="0">
                <a:solidFill>
                  <a:srgbClr val="99A0AB"/>
                </a:solidFill>
                <a:latin typeface="JetBrains Mono"/>
              </a:rPr>
              <a:t>Trabajos asíncronos</a:t>
            </a:r>
          </a:p>
          <a:p>
            <a:pPr algn="l">
              <a:lnSpc>
                <a:spcPct val="125000"/>
              </a:lnSpc>
            </a:pPr>
            <a:r>
              <a:rPr sz="1050" b="0" i="0">
                <a:solidFill>
                  <a:srgbClr val="99A0AB"/>
                </a:solidFill>
                <a:latin typeface="JetBrains Mono"/>
              </a:rPr>
              <a:t>Análisis IA en background</a:t>
            </a:r>
          </a:p>
        </p:txBody>
      </p:sp>
      <p:sp>
        <p:nvSpPr>
          <p:cNvPr id="25" name="TextBox 24"/>
          <p:cNvSpPr txBox="1"/>
          <p:nvPr/>
        </p:nvSpPr>
        <p:spPr>
          <a:xfrm>
            <a:off x="685800" y="4709159"/>
            <a:ext cx="10332720" cy="274320"/>
          </a:xfrm>
          <a:prstGeom prst="rect">
            <a:avLst/>
          </a:prstGeom>
          <a:noFill/>
        </p:spPr>
        <p:txBody>
          <a:bodyPr wrap="square" lIns="0" tIns="0" rIns="0" bIns="0" anchor="t">
            <a:spAutoFit/>
          </a:bodyPr>
          <a:lstStyle/>
          <a:p>
            <a:pPr algn="l">
              <a:lnSpc>
                <a:spcPct val="115000"/>
              </a:lnSpc>
            </a:pPr>
            <a:r>
              <a:rPr sz="1100" b="1" i="0">
                <a:solidFill>
                  <a:srgbClr val="5C6472"/>
                </a:solidFill>
                <a:latin typeface="JetBrains Mono"/>
              </a:rPr>
              <a:t>INTEGRACIONES EXTERNAS</a:t>
            </a:r>
          </a:p>
        </p:txBody>
      </p:sp>
      <p:sp>
        <p:nvSpPr>
          <p:cNvPr id="26" name="Rounded Rectangle 25"/>
          <p:cNvSpPr/>
          <p:nvPr/>
        </p:nvSpPr>
        <p:spPr>
          <a:xfrm>
            <a:off x="685800" y="5029199"/>
            <a:ext cx="3429000" cy="9144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5800" y="5029199"/>
            <a:ext cx="54864" cy="9144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6968" y="5148071"/>
            <a:ext cx="3063240" cy="365760"/>
          </a:xfrm>
          <a:prstGeom prst="rect">
            <a:avLst/>
          </a:prstGeom>
          <a:noFill/>
        </p:spPr>
        <p:txBody>
          <a:bodyPr wrap="square" lIns="0" tIns="0" rIns="0" bIns="0" anchor="t">
            <a:spAutoFit/>
          </a:bodyPr>
          <a:lstStyle/>
          <a:p>
            <a:pPr algn="l">
              <a:lnSpc>
                <a:spcPct val="115000"/>
              </a:lnSpc>
            </a:pPr>
            <a:r>
              <a:rPr sz="1350" b="1" i="0">
                <a:solidFill>
                  <a:srgbClr val="E7E9ED"/>
                </a:solidFill>
                <a:latin typeface="Space Grotesk"/>
              </a:rPr>
              <a:t>DATOS DE MERCADO Y FX</a:t>
            </a:r>
          </a:p>
        </p:txBody>
      </p:sp>
      <p:sp>
        <p:nvSpPr>
          <p:cNvPr id="29" name="TextBox 28"/>
          <p:cNvSpPr txBox="1"/>
          <p:nvPr/>
        </p:nvSpPr>
        <p:spPr>
          <a:xfrm>
            <a:off x="886968" y="5513831"/>
            <a:ext cx="3063240" cy="365760"/>
          </a:xfrm>
          <a:prstGeom prst="rect">
            <a:avLst/>
          </a:prstGeom>
          <a:noFill/>
        </p:spPr>
        <p:txBody>
          <a:bodyPr wrap="square" lIns="0" tIns="0" rIns="0" bIns="0" anchor="t">
            <a:spAutoFit/>
          </a:bodyPr>
          <a:lstStyle/>
          <a:p>
            <a:pPr algn="l">
              <a:lnSpc>
                <a:spcPct val="125000"/>
              </a:lnSpc>
            </a:pPr>
            <a:r>
              <a:rPr sz="1050" b="0" i="0">
                <a:solidFill>
                  <a:srgbClr val="99A0AB"/>
                </a:solidFill>
                <a:latin typeface="JetBrains Mono"/>
              </a:rPr>
              <a:t>Twelve Data · EODHD · Finnhub</a:t>
            </a:r>
          </a:p>
          <a:p>
            <a:pPr algn="l">
              <a:lnSpc>
                <a:spcPct val="125000"/>
              </a:lnSpc>
            </a:pPr>
            <a:r>
              <a:rPr sz="1050" b="0" i="0">
                <a:solidFill>
                  <a:srgbClr val="99A0AB"/>
                </a:solidFill>
                <a:latin typeface="JetBrains Mono"/>
              </a:rPr>
              <a:t>Frankfurter (cascada, ver bloque 03)</a:t>
            </a:r>
          </a:p>
        </p:txBody>
      </p:sp>
      <p:sp>
        <p:nvSpPr>
          <p:cNvPr id="30" name="Rounded Rectangle 29"/>
          <p:cNvSpPr/>
          <p:nvPr/>
        </p:nvSpPr>
        <p:spPr>
          <a:xfrm>
            <a:off x="4370832" y="5029199"/>
            <a:ext cx="3429000" cy="9144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70832" y="5029199"/>
            <a:ext cx="54864" cy="9144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0" y="5148071"/>
            <a:ext cx="3063240" cy="365760"/>
          </a:xfrm>
          <a:prstGeom prst="rect">
            <a:avLst/>
          </a:prstGeom>
          <a:noFill/>
        </p:spPr>
        <p:txBody>
          <a:bodyPr wrap="square" lIns="0" tIns="0" rIns="0" bIns="0" anchor="t">
            <a:spAutoFit/>
          </a:bodyPr>
          <a:lstStyle/>
          <a:p>
            <a:pPr algn="l">
              <a:lnSpc>
                <a:spcPct val="115000"/>
              </a:lnSpc>
            </a:pPr>
            <a:r>
              <a:rPr sz="1350" b="1" i="0">
                <a:solidFill>
                  <a:srgbClr val="E7E9ED"/>
                </a:solidFill>
                <a:latin typeface="Space Grotesk"/>
              </a:rPr>
              <a:t>PROVEEDORES DE IA</a:t>
            </a:r>
          </a:p>
        </p:txBody>
      </p:sp>
      <p:sp>
        <p:nvSpPr>
          <p:cNvPr id="33" name="TextBox 32"/>
          <p:cNvSpPr txBox="1"/>
          <p:nvPr/>
        </p:nvSpPr>
        <p:spPr>
          <a:xfrm>
            <a:off x="4572000" y="5513831"/>
            <a:ext cx="3063240" cy="365760"/>
          </a:xfrm>
          <a:prstGeom prst="rect">
            <a:avLst/>
          </a:prstGeom>
          <a:noFill/>
        </p:spPr>
        <p:txBody>
          <a:bodyPr wrap="square" lIns="0" tIns="0" rIns="0" bIns="0" anchor="t">
            <a:spAutoFit/>
          </a:bodyPr>
          <a:lstStyle/>
          <a:p>
            <a:pPr algn="l">
              <a:lnSpc>
                <a:spcPct val="125000"/>
              </a:lnSpc>
            </a:pPr>
            <a:r>
              <a:rPr sz="1050" b="0" i="0">
                <a:solidFill>
                  <a:srgbClr val="99A0AB"/>
                </a:solidFill>
                <a:latin typeface="JetBrains Mono"/>
              </a:rPr>
              <a:t>Anthropic (Claude) · OpenAI</a:t>
            </a:r>
          </a:p>
          <a:p>
            <a:pPr algn="l">
              <a:lnSpc>
                <a:spcPct val="125000"/>
              </a:lnSpc>
            </a:pPr>
            <a:r>
              <a:rPr sz="1050" b="0" i="0">
                <a:solidFill>
                  <a:srgbClr val="99A0AB"/>
                </a:solidFill>
                <a:latin typeface="JetBrains Mono"/>
              </a:rPr>
              <a:t>Gemini — intercambiables</a:t>
            </a:r>
          </a:p>
        </p:txBody>
      </p:sp>
      <p:sp>
        <p:nvSpPr>
          <p:cNvPr id="34" name="Rounded Rectangle 33"/>
          <p:cNvSpPr/>
          <p:nvPr/>
        </p:nvSpPr>
        <p:spPr>
          <a:xfrm>
            <a:off x="8055864" y="5029199"/>
            <a:ext cx="3429000" cy="9144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055864" y="5029199"/>
            <a:ext cx="54864" cy="9144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57032" y="5148071"/>
            <a:ext cx="3063240" cy="365760"/>
          </a:xfrm>
          <a:prstGeom prst="rect">
            <a:avLst/>
          </a:prstGeom>
          <a:noFill/>
        </p:spPr>
        <p:txBody>
          <a:bodyPr wrap="square" lIns="0" tIns="0" rIns="0" bIns="0" anchor="t">
            <a:spAutoFit/>
          </a:bodyPr>
          <a:lstStyle/>
          <a:p>
            <a:pPr algn="l">
              <a:lnSpc>
                <a:spcPct val="115000"/>
              </a:lnSpc>
            </a:pPr>
            <a:r>
              <a:rPr sz="1350" b="1" i="0">
                <a:solidFill>
                  <a:srgbClr val="E7E9ED"/>
                </a:solidFill>
                <a:latin typeface="Space Grotesk"/>
              </a:rPr>
              <a:t>IDENTIDAD</a:t>
            </a:r>
          </a:p>
        </p:txBody>
      </p:sp>
      <p:sp>
        <p:nvSpPr>
          <p:cNvPr id="37" name="TextBox 36"/>
          <p:cNvSpPr txBox="1"/>
          <p:nvPr/>
        </p:nvSpPr>
        <p:spPr>
          <a:xfrm>
            <a:off x="8257032" y="5513831"/>
            <a:ext cx="3063240" cy="365760"/>
          </a:xfrm>
          <a:prstGeom prst="rect">
            <a:avLst/>
          </a:prstGeom>
          <a:noFill/>
        </p:spPr>
        <p:txBody>
          <a:bodyPr wrap="square" lIns="0" tIns="0" rIns="0" bIns="0" anchor="t">
            <a:spAutoFit/>
          </a:bodyPr>
          <a:lstStyle/>
          <a:p>
            <a:pPr algn="l">
              <a:lnSpc>
                <a:spcPct val="125000"/>
              </a:lnSpc>
            </a:pPr>
            <a:r>
              <a:rPr sz="1050" b="0" i="0">
                <a:solidFill>
                  <a:srgbClr val="99A0AB"/>
                </a:solidFill>
                <a:latin typeface="JetBrains Mono"/>
              </a:rPr>
              <a:t>OAuth Google / Microsoft</a:t>
            </a:r>
          </a:p>
          <a:p>
            <a:pPr algn="l">
              <a:lnSpc>
                <a:spcPct val="125000"/>
              </a:lnSpc>
            </a:pPr>
            <a:r>
              <a:rPr sz="1050" b="0" i="0">
                <a:solidFill>
                  <a:srgbClr val="99A0AB"/>
                </a:solidFill>
                <a:latin typeface="JetBrains Mono"/>
              </a:rPr>
              <a:t>Email + contraseña · invitado</a:t>
            </a:r>
          </a:p>
        </p:txBody>
      </p:sp>
      <p:sp>
        <p:nvSpPr>
          <p:cNvPr id="38" name="TextBox 37"/>
          <p:cNvSpPr txBox="1"/>
          <p:nvPr/>
        </p:nvSpPr>
        <p:spPr>
          <a:xfrm>
            <a:off x="685800" y="6053328"/>
            <a:ext cx="10332720" cy="274320"/>
          </a:xfrm>
          <a:prstGeom prst="rect">
            <a:avLst/>
          </a:prstGeom>
          <a:noFill/>
        </p:spPr>
        <p:txBody>
          <a:bodyPr wrap="square" lIns="0" tIns="0" rIns="0" bIns="0" anchor="t">
            <a:spAutoFit/>
          </a:bodyPr>
          <a:lstStyle/>
          <a:p>
            <a:pPr algn="l">
              <a:lnSpc>
                <a:spcPct val="115000"/>
              </a:lnSpc>
            </a:pPr>
            <a:r>
              <a:rPr sz="1050" b="0" i="0">
                <a:solidFill>
                  <a:srgbClr val="5C6472"/>
                </a:solidFill>
                <a:latin typeface="JetBrains Mono"/>
              </a:rPr>
              <a:t>Orquestado con Docker Compose · despliegue objetivo: Azure</a:t>
            </a:r>
          </a:p>
        </p:txBody>
      </p:sp>
      <p:sp>
        <p:nvSpPr>
          <p:cNvPr id="39" name="TextBox 38"/>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40" name="TextBox 39"/>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02 · ARQUITECTURA</a:t>
            </a:r>
          </a:p>
        </p:txBody>
      </p:sp>
      <p:sp>
        <p:nvSpPr>
          <p:cNvPr id="41" name="TextBox 40"/>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06</a:t>
            </a:r>
          </a:p>
        </p:txBody>
      </p:sp>
      <p:sp>
        <p:nvSpPr>
          <p:cNvPr id="42" name="Rectangle 41"/>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02 · ARQUITECTURA</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Stack tecnológico</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874519"/>
            <a:ext cx="10789919" cy="384048"/>
          </a:xfrm>
          <a:prstGeom prst="roundRect">
            <a:avLst>
              <a:gd name="adj" fmla="val 6000"/>
            </a:avLst>
          </a:prstGeom>
          <a:solidFill>
            <a:srgbClr val="15191F"/>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38527"/>
            <a:ext cx="2331720" cy="274320"/>
          </a:xfrm>
          <a:prstGeom prst="rect">
            <a:avLst/>
          </a:prstGeom>
          <a:noFill/>
        </p:spPr>
        <p:txBody>
          <a:bodyPr wrap="square" lIns="0" tIns="0" rIns="0" bIns="0" anchor="t">
            <a:spAutoFit/>
          </a:bodyPr>
          <a:lstStyle/>
          <a:p>
            <a:pPr algn="l">
              <a:lnSpc>
                <a:spcPct val="115000"/>
              </a:lnSpc>
            </a:pPr>
            <a:r>
              <a:rPr sz="1100" b="1" i="0">
                <a:solidFill>
                  <a:srgbClr val="C9A45C"/>
                </a:solidFill>
                <a:latin typeface="JetBrains Mono"/>
              </a:rPr>
              <a:t>CAPA</a:t>
            </a:r>
          </a:p>
        </p:txBody>
      </p:sp>
      <p:sp>
        <p:nvSpPr>
          <p:cNvPr id="8" name="TextBox 7"/>
          <p:cNvSpPr txBox="1"/>
          <p:nvPr/>
        </p:nvSpPr>
        <p:spPr>
          <a:xfrm>
            <a:off x="3291840" y="1938527"/>
            <a:ext cx="7955279" cy="274320"/>
          </a:xfrm>
          <a:prstGeom prst="rect">
            <a:avLst/>
          </a:prstGeom>
          <a:noFill/>
        </p:spPr>
        <p:txBody>
          <a:bodyPr wrap="square" lIns="0" tIns="0" rIns="0" bIns="0" anchor="t">
            <a:spAutoFit/>
          </a:bodyPr>
          <a:lstStyle/>
          <a:p>
            <a:pPr algn="l">
              <a:lnSpc>
                <a:spcPct val="115000"/>
              </a:lnSpc>
            </a:pPr>
            <a:r>
              <a:rPr sz="1100" b="1" i="0">
                <a:solidFill>
                  <a:srgbClr val="C9A45C"/>
                </a:solidFill>
                <a:latin typeface="JetBrains Mono"/>
              </a:rPr>
              <a:t>TECNOLOGÍA</a:t>
            </a:r>
          </a:p>
        </p:txBody>
      </p:sp>
      <p:sp>
        <p:nvSpPr>
          <p:cNvPr id="9" name="Rounded Rectangle 8"/>
          <p:cNvSpPr/>
          <p:nvPr/>
        </p:nvSpPr>
        <p:spPr>
          <a:xfrm>
            <a:off x="685800" y="2258567"/>
            <a:ext cx="10789919" cy="434340"/>
          </a:xfrm>
          <a:prstGeom prst="roundRect">
            <a:avLst>
              <a:gd name="adj" fmla="val 6000"/>
            </a:avLst>
          </a:prstGeom>
          <a:solidFill>
            <a:srgbClr val="101318"/>
          </a:solidFill>
          <a:ln w="635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35915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Backend</a:t>
            </a:r>
          </a:p>
        </p:txBody>
      </p:sp>
      <p:sp>
        <p:nvSpPr>
          <p:cNvPr id="11" name="TextBox 10"/>
          <p:cNvSpPr txBox="1"/>
          <p:nvPr/>
        </p:nvSpPr>
        <p:spPr>
          <a:xfrm>
            <a:off x="3291840" y="235915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Python 3.12 · FastAPI · SQLAlchemy · Alembic · Pydantic v2 · Authlib</a:t>
            </a:r>
          </a:p>
        </p:txBody>
      </p:sp>
      <p:sp>
        <p:nvSpPr>
          <p:cNvPr id="12" name="TextBox 11"/>
          <p:cNvSpPr txBox="1"/>
          <p:nvPr/>
        </p:nvSpPr>
        <p:spPr>
          <a:xfrm>
            <a:off x="914400" y="279349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Tareas asíncronas</a:t>
            </a:r>
          </a:p>
        </p:txBody>
      </p:sp>
      <p:sp>
        <p:nvSpPr>
          <p:cNvPr id="13" name="TextBox 12"/>
          <p:cNvSpPr txBox="1"/>
          <p:nvPr/>
        </p:nvSpPr>
        <p:spPr>
          <a:xfrm>
            <a:off x="3291840" y="279349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Celery + Redis</a:t>
            </a:r>
          </a:p>
        </p:txBody>
      </p:sp>
      <p:sp>
        <p:nvSpPr>
          <p:cNvPr id="14" name="Rounded Rectangle 13"/>
          <p:cNvSpPr/>
          <p:nvPr/>
        </p:nvSpPr>
        <p:spPr>
          <a:xfrm>
            <a:off x="685800" y="3127247"/>
            <a:ext cx="10789919" cy="434340"/>
          </a:xfrm>
          <a:prstGeom prst="roundRect">
            <a:avLst>
              <a:gd name="adj" fmla="val 6000"/>
            </a:avLst>
          </a:prstGeom>
          <a:solidFill>
            <a:srgbClr val="101318"/>
          </a:solidFill>
          <a:ln w="635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22783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Base de datos</a:t>
            </a:r>
          </a:p>
        </p:txBody>
      </p:sp>
      <p:sp>
        <p:nvSpPr>
          <p:cNvPr id="16" name="TextBox 15"/>
          <p:cNvSpPr txBox="1"/>
          <p:nvPr/>
        </p:nvSpPr>
        <p:spPr>
          <a:xfrm>
            <a:off x="3291840" y="322783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PostgreSQL 16</a:t>
            </a:r>
          </a:p>
        </p:txBody>
      </p:sp>
      <p:sp>
        <p:nvSpPr>
          <p:cNvPr id="17" name="TextBox 16"/>
          <p:cNvSpPr txBox="1"/>
          <p:nvPr/>
        </p:nvSpPr>
        <p:spPr>
          <a:xfrm>
            <a:off x="914400" y="366217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Frontend</a:t>
            </a:r>
          </a:p>
        </p:txBody>
      </p:sp>
      <p:sp>
        <p:nvSpPr>
          <p:cNvPr id="18" name="TextBox 17"/>
          <p:cNvSpPr txBox="1"/>
          <p:nvPr/>
        </p:nvSpPr>
        <p:spPr>
          <a:xfrm>
            <a:off x="3291840" y="366217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TypeScript · Web Components nativos · Vite · @preact/signals-core</a:t>
            </a:r>
          </a:p>
        </p:txBody>
      </p:sp>
      <p:sp>
        <p:nvSpPr>
          <p:cNvPr id="19" name="Rounded Rectangle 18"/>
          <p:cNvSpPr/>
          <p:nvPr/>
        </p:nvSpPr>
        <p:spPr>
          <a:xfrm>
            <a:off x="685800" y="3995927"/>
            <a:ext cx="10789919" cy="434340"/>
          </a:xfrm>
          <a:prstGeom prst="roundRect">
            <a:avLst>
              <a:gd name="adj" fmla="val 6000"/>
            </a:avLst>
          </a:prstGeom>
          <a:solidFill>
            <a:srgbClr val="101318"/>
          </a:solidFill>
          <a:ln w="635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09651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Tests</a:t>
            </a:r>
          </a:p>
        </p:txBody>
      </p:sp>
      <p:sp>
        <p:nvSpPr>
          <p:cNvPr id="21" name="TextBox 20"/>
          <p:cNvSpPr txBox="1"/>
          <p:nvPr/>
        </p:nvSpPr>
        <p:spPr>
          <a:xfrm>
            <a:off x="3291840" y="409651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pytest + pytest-cov (backend) · Vitest (frontend)</a:t>
            </a:r>
          </a:p>
        </p:txBody>
      </p:sp>
      <p:sp>
        <p:nvSpPr>
          <p:cNvPr id="22" name="TextBox 21"/>
          <p:cNvSpPr txBox="1"/>
          <p:nvPr/>
        </p:nvSpPr>
        <p:spPr>
          <a:xfrm>
            <a:off x="914400" y="453085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Contenerización</a:t>
            </a:r>
          </a:p>
        </p:txBody>
      </p:sp>
      <p:sp>
        <p:nvSpPr>
          <p:cNvPr id="23" name="TextBox 22"/>
          <p:cNvSpPr txBox="1"/>
          <p:nvPr/>
        </p:nvSpPr>
        <p:spPr>
          <a:xfrm>
            <a:off x="3291840" y="453085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Docker + Docker Compose</a:t>
            </a:r>
          </a:p>
        </p:txBody>
      </p:sp>
      <p:sp>
        <p:nvSpPr>
          <p:cNvPr id="24" name="Rounded Rectangle 23"/>
          <p:cNvSpPr/>
          <p:nvPr/>
        </p:nvSpPr>
        <p:spPr>
          <a:xfrm>
            <a:off x="685800" y="4864607"/>
            <a:ext cx="10789919" cy="434340"/>
          </a:xfrm>
          <a:prstGeom prst="roundRect">
            <a:avLst>
              <a:gd name="adj" fmla="val 6000"/>
            </a:avLst>
          </a:prstGeom>
          <a:solidFill>
            <a:srgbClr val="101318"/>
          </a:solidFill>
          <a:ln w="635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496519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Autenticación</a:t>
            </a:r>
          </a:p>
        </p:txBody>
      </p:sp>
      <p:sp>
        <p:nvSpPr>
          <p:cNvPr id="26" name="TextBox 25"/>
          <p:cNvSpPr txBox="1"/>
          <p:nvPr/>
        </p:nvSpPr>
        <p:spPr>
          <a:xfrm>
            <a:off x="3291840" y="496519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JWT · OAuth Google/Microsoft · email+contraseña · invitado</a:t>
            </a:r>
          </a:p>
        </p:txBody>
      </p:sp>
      <p:sp>
        <p:nvSpPr>
          <p:cNvPr id="27" name="TextBox 26"/>
          <p:cNvSpPr txBox="1"/>
          <p:nvPr/>
        </p:nvSpPr>
        <p:spPr>
          <a:xfrm>
            <a:off x="914400" y="539953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Proveedores de IA</a:t>
            </a:r>
          </a:p>
        </p:txBody>
      </p:sp>
      <p:sp>
        <p:nvSpPr>
          <p:cNvPr id="28" name="TextBox 27"/>
          <p:cNvSpPr txBox="1"/>
          <p:nvPr/>
        </p:nvSpPr>
        <p:spPr>
          <a:xfrm>
            <a:off x="3291840" y="539953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Anthropic (por defecto) · OpenAI · Gemini — configurable</a:t>
            </a:r>
          </a:p>
        </p:txBody>
      </p:sp>
      <p:sp>
        <p:nvSpPr>
          <p:cNvPr id="29" name="Rounded Rectangle 28"/>
          <p:cNvSpPr/>
          <p:nvPr/>
        </p:nvSpPr>
        <p:spPr>
          <a:xfrm>
            <a:off x="685800" y="5733287"/>
            <a:ext cx="10789919" cy="434340"/>
          </a:xfrm>
          <a:prstGeom prst="roundRect">
            <a:avLst>
              <a:gd name="adj" fmla="val 6000"/>
            </a:avLst>
          </a:prstGeom>
          <a:solidFill>
            <a:srgbClr val="101318"/>
          </a:solidFill>
          <a:ln w="635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583387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Datos de mercado</a:t>
            </a:r>
          </a:p>
        </p:txBody>
      </p:sp>
      <p:sp>
        <p:nvSpPr>
          <p:cNvPr id="31" name="TextBox 30"/>
          <p:cNvSpPr txBox="1"/>
          <p:nvPr/>
        </p:nvSpPr>
        <p:spPr>
          <a:xfrm>
            <a:off x="3291840" y="583387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Twelve Data · EODHD · Finnhub — cascada con fallback automático</a:t>
            </a:r>
          </a:p>
        </p:txBody>
      </p:sp>
      <p:sp>
        <p:nvSpPr>
          <p:cNvPr id="32" name="TextBox 31"/>
          <p:cNvSpPr txBox="1"/>
          <p:nvPr/>
        </p:nvSpPr>
        <p:spPr>
          <a:xfrm>
            <a:off x="914400" y="6268211"/>
            <a:ext cx="2331720" cy="342900"/>
          </a:xfrm>
          <a:prstGeom prst="rect">
            <a:avLst/>
          </a:prstGeom>
          <a:noFill/>
        </p:spPr>
        <p:txBody>
          <a:bodyPr wrap="square" lIns="0" tIns="0" rIns="0" bIns="0" anchor="t">
            <a:spAutoFit/>
          </a:bodyPr>
          <a:lstStyle/>
          <a:p>
            <a:pPr algn="l">
              <a:lnSpc>
                <a:spcPct val="115000"/>
              </a:lnSpc>
            </a:pPr>
            <a:r>
              <a:rPr sz="1250" b="1" i="0">
                <a:solidFill>
                  <a:srgbClr val="E7E9ED"/>
                </a:solidFill>
                <a:latin typeface="Space Grotesk"/>
              </a:rPr>
              <a:t>Datos de FX</a:t>
            </a:r>
          </a:p>
        </p:txBody>
      </p:sp>
      <p:sp>
        <p:nvSpPr>
          <p:cNvPr id="33" name="TextBox 32"/>
          <p:cNvSpPr txBox="1"/>
          <p:nvPr/>
        </p:nvSpPr>
        <p:spPr>
          <a:xfrm>
            <a:off x="3291840" y="6268211"/>
            <a:ext cx="7955279" cy="342900"/>
          </a:xfrm>
          <a:prstGeom prst="rect">
            <a:avLst/>
          </a:prstGeom>
          <a:noFill/>
        </p:spPr>
        <p:txBody>
          <a:bodyPr wrap="square" lIns="0" tIns="0" rIns="0" bIns="0" anchor="t">
            <a:spAutoFit/>
          </a:bodyPr>
          <a:lstStyle/>
          <a:p>
            <a:pPr algn="l">
              <a:lnSpc>
                <a:spcPct val="115000"/>
              </a:lnSpc>
            </a:pPr>
            <a:r>
              <a:rPr sz="1150" b="0" i="0">
                <a:solidFill>
                  <a:srgbClr val="99A0AB"/>
                </a:solidFill>
                <a:latin typeface="JetBrains Mono"/>
              </a:rPr>
              <a:t>Frankfurter (Banco Central Europeo, sin clave)</a:t>
            </a:r>
          </a:p>
        </p:txBody>
      </p:sp>
      <p:sp>
        <p:nvSpPr>
          <p:cNvPr id="34" name="TextBox 33"/>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35" name="TextBox 34"/>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02 · ARQUITECTURA</a:t>
            </a:r>
          </a:p>
        </p:txBody>
      </p:sp>
      <p:sp>
        <p:nvSpPr>
          <p:cNvPr id="36" name="TextBox 35"/>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07</a:t>
            </a:r>
          </a:p>
        </p:txBody>
      </p:sp>
      <p:sp>
        <p:nvSpPr>
          <p:cNvPr id="37" name="Rectangle 36"/>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03</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Hub técnico — Motor de datos de mercado y FX</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La pieza central de fiabilidad del sistema</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03 · HUB TÉCNICO</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08</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03 · HUB TÉCNICO</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El reto: datos de mercado fiables, gratis, con cobertura global</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10241280" cy="2377440"/>
          </a:xfrm>
          <a:prstGeom prst="rect">
            <a:avLst/>
          </a:prstGeom>
          <a:noFill/>
        </p:spPr>
        <p:txBody>
          <a:bodyPr wrap="square" lIns="0" tIns="0" rIns="0" bIns="0">
            <a:spAutoFit/>
          </a:bodyPr>
          <a:lstStyle/>
          <a:p>
            <a:pPr>
              <a:lnSpc>
                <a:spcPct val="150000"/>
              </a:lnSpc>
              <a:spcAft>
                <a:spcPts val="400"/>
              </a:spcAft>
            </a:pPr>
            <a:r>
              <a:rPr sz="1600" b="1">
                <a:solidFill>
                  <a:srgbClr val="C9A45C"/>
                </a:solidFill>
                <a:latin typeface="Space Grotesk"/>
              </a:rPr>
              <a:t>▪  </a:t>
            </a:r>
            <a:r>
              <a:rPr sz="1600">
                <a:solidFill>
                  <a:srgbClr val="99A0AB"/>
                </a:solidFill>
                <a:latin typeface="Space Grotesk"/>
              </a:rPr>
              <a:t>Las APIs gratuitas de datos financieros imponen límites estrictos de llamadas por día/minuto</a:t>
            </a:r>
          </a:p>
          <a:p>
            <a:pPr>
              <a:lnSpc>
                <a:spcPct val="150000"/>
              </a:lnSpc>
              <a:spcAft>
                <a:spcPts val="400"/>
              </a:spcAft>
            </a:pPr>
            <a:r>
              <a:rPr sz="1600" b="1">
                <a:solidFill>
                  <a:srgbClr val="C9A45C"/>
                </a:solidFill>
                <a:latin typeface="Space Grotesk"/>
              </a:rPr>
              <a:t>▪  </a:t>
            </a:r>
            <a:r>
              <a:rPr sz="1600">
                <a:solidFill>
                  <a:srgbClr val="99A0AB"/>
                </a:solidFill>
                <a:latin typeface="Space Grotesk"/>
              </a:rPr>
              <a:t>La cobertura por mercado es desigual: no todas cubren bolsas europeas (BME, Xetra, Euronext, LSE) en su plan gratuito</a:t>
            </a:r>
          </a:p>
          <a:p>
            <a:pPr>
              <a:lnSpc>
                <a:spcPct val="150000"/>
              </a:lnSpc>
              <a:spcAft>
                <a:spcPts val="400"/>
              </a:spcAft>
            </a:pPr>
            <a:r>
              <a:rPr sz="1600" b="1">
                <a:solidFill>
                  <a:srgbClr val="C9A45C"/>
                </a:solidFill>
                <a:latin typeface="Space Grotesk"/>
              </a:rPr>
              <a:t>▪  </a:t>
            </a:r>
            <a:r>
              <a:rPr sz="1600">
                <a:solidFill>
                  <a:srgbClr val="99A0AB"/>
                </a:solidFill>
                <a:latin typeface="Space Grotesk"/>
              </a:rPr>
              <a:t>Un único proveedor activo es un punto único de fallo: rate limit, ticker no reconocido, caída del servicio</a:t>
            </a:r>
          </a:p>
          <a:p>
            <a:pPr>
              <a:lnSpc>
                <a:spcPct val="150000"/>
              </a:lnSpc>
              <a:spcAft>
                <a:spcPts val="400"/>
              </a:spcAft>
            </a:pPr>
            <a:r>
              <a:rPr sz="1600" b="1">
                <a:solidFill>
                  <a:srgbClr val="C9A45C"/>
                </a:solidFill>
                <a:latin typeface="Space Grotesk"/>
              </a:rPr>
              <a:t>▪  </a:t>
            </a:r>
            <a:r>
              <a:rPr sz="1600">
                <a:solidFill>
                  <a:srgbClr val="99A0AB"/>
                </a:solidFill>
                <a:latin typeface="Space Grotesk"/>
              </a:rPr>
              <a:t>Cambiar de proveedor a mano cada vez que uno falla no escala ni es sostenible en producción</a:t>
            </a:r>
          </a:p>
        </p:txBody>
      </p:sp>
      <p:sp>
        <p:nvSpPr>
          <p:cNvPr id="7" name="Rounded Rectangle 6"/>
          <p:cNvSpPr/>
          <p:nvPr/>
        </p:nvSpPr>
        <p:spPr>
          <a:xfrm>
            <a:off x="777240" y="4709160"/>
            <a:ext cx="10241280" cy="123444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4709160"/>
            <a:ext cx="54864" cy="1234440"/>
          </a:xfrm>
          <a:prstGeom prst="rect">
            <a:avLst/>
          </a:prstGeom>
          <a:solidFill>
            <a:srgbClr val="E46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4846320"/>
            <a:ext cx="9784080" cy="320040"/>
          </a:xfrm>
          <a:prstGeom prst="rect">
            <a:avLst/>
          </a:prstGeom>
          <a:noFill/>
        </p:spPr>
        <p:txBody>
          <a:bodyPr wrap="square" lIns="0" tIns="0" rIns="0" bIns="0" anchor="t">
            <a:spAutoFit/>
          </a:bodyPr>
          <a:lstStyle/>
          <a:p>
            <a:pPr algn="l">
              <a:lnSpc>
                <a:spcPct val="115000"/>
              </a:lnSpc>
            </a:pPr>
            <a:r>
              <a:rPr sz="1150" b="1" i="0">
                <a:solidFill>
                  <a:srgbClr val="E46A6A"/>
                </a:solidFill>
                <a:latin typeface="JetBrains Mono"/>
              </a:rPr>
              <a:t>CASO REAL DETECTADO EN PRODUCCIÓN</a:t>
            </a:r>
          </a:p>
        </p:txBody>
      </p:sp>
      <p:sp>
        <p:nvSpPr>
          <p:cNvPr id="10" name="TextBox 9"/>
          <p:cNvSpPr txBox="1"/>
          <p:nvPr/>
        </p:nvSpPr>
        <p:spPr>
          <a:xfrm>
            <a:off x="1005840" y="5193792"/>
            <a:ext cx="9784080" cy="685800"/>
          </a:xfrm>
          <a:prstGeom prst="rect">
            <a:avLst/>
          </a:prstGeom>
          <a:noFill/>
        </p:spPr>
        <p:txBody>
          <a:bodyPr wrap="square" lIns="0" tIns="0" rIns="0" bIns="0" anchor="t">
            <a:spAutoFit/>
          </a:bodyPr>
          <a:lstStyle/>
          <a:p>
            <a:pPr algn="l">
              <a:lnSpc>
                <a:spcPct val="130000"/>
              </a:lnSpc>
            </a:pPr>
            <a:r>
              <a:rPr sz="1300" b="0" i="0">
                <a:solidFill>
                  <a:srgbClr val="99A0AB"/>
                </a:solidFill>
                <a:latin typeface="Space Grotesk"/>
              </a:rPr>
              <a:t>Finnhub rechaza tickers “pelados” en mercados no estadounidenses (incidente IDR). El sistema lo detectó, documentó y resolvió con la cascada de proveedores — sin intervención manual futura.</a:t>
            </a:r>
          </a:p>
        </p:txBody>
      </p:sp>
      <p:sp>
        <p:nvSpPr>
          <p:cNvPr id="11" name="TextBox 10"/>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2" name="TextBox 11"/>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03 · HUB TÉCNICO</a:t>
            </a:r>
          </a:p>
        </p:txBody>
      </p:sp>
      <p:sp>
        <p:nvSpPr>
          <p:cNvPr id="13" name="TextBox 12"/>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09</a:t>
            </a:r>
          </a:p>
        </p:txBody>
      </p:sp>
      <p:sp>
        <p:nvSpPr>
          <p:cNvPr id="14" name="Rectangle 13"/>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03 · HUB TÉCNICO</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Cascada multi-proveedor (Spec D12)</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965960"/>
            <a:ext cx="3063240" cy="13716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50392" y="2130552"/>
            <a:ext cx="365760" cy="365760"/>
          </a:xfrm>
          <a:prstGeom prst="ellipse">
            <a:avLst/>
          </a:prstGeom>
          <a:solidFill>
            <a:srgbClr val="2A2412"/>
          </a:solidFill>
          <a:ln w="12700">
            <a:solidFill>
              <a:srgbClr val="C9A45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C9A45C"/>
                </a:solidFill>
                <a:latin typeface="JetBrains Mono"/>
              </a:rPr>
              <a:t>1º</a:t>
            </a:r>
          </a:p>
        </p:txBody>
      </p:sp>
      <p:sp>
        <p:nvSpPr>
          <p:cNvPr id="8" name="TextBox 7"/>
          <p:cNvSpPr txBox="1"/>
          <p:nvPr/>
        </p:nvSpPr>
        <p:spPr>
          <a:xfrm>
            <a:off x="1325880" y="2148840"/>
            <a:ext cx="2240280" cy="320040"/>
          </a:xfrm>
          <a:prstGeom prst="rect">
            <a:avLst/>
          </a:prstGeom>
          <a:noFill/>
        </p:spPr>
        <p:txBody>
          <a:bodyPr wrap="square" lIns="0" tIns="0" rIns="0" bIns="0" anchor="t">
            <a:spAutoFit/>
          </a:bodyPr>
          <a:lstStyle/>
          <a:p>
            <a:pPr algn="l">
              <a:lnSpc>
                <a:spcPct val="115000"/>
              </a:lnSpc>
            </a:pPr>
            <a:r>
              <a:rPr sz="1450" b="1" i="0">
                <a:solidFill>
                  <a:srgbClr val="E7E9ED"/>
                </a:solidFill>
                <a:latin typeface="Space Grotesk"/>
              </a:rPr>
              <a:t>Twelve Data</a:t>
            </a:r>
          </a:p>
        </p:txBody>
      </p:sp>
      <p:sp>
        <p:nvSpPr>
          <p:cNvPr id="9" name="TextBox 8"/>
          <p:cNvSpPr txBox="1"/>
          <p:nvPr/>
        </p:nvSpPr>
        <p:spPr>
          <a:xfrm>
            <a:off x="941832" y="2624328"/>
            <a:ext cx="2560320" cy="640080"/>
          </a:xfrm>
          <a:prstGeom prst="rect">
            <a:avLst/>
          </a:prstGeom>
          <a:noFill/>
        </p:spPr>
        <p:txBody>
          <a:bodyPr wrap="square" lIns="0" tIns="0" rIns="0" bIns="0" anchor="t">
            <a:spAutoFit/>
          </a:bodyPr>
          <a:lstStyle/>
          <a:p>
            <a:pPr algn="l">
              <a:lnSpc>
                <a:spcPct val="130000"/>
              </a:lnSpc>
            </a:pPr>
            <a:r>
              <a:rPr sz="1050" b="0" i="0">
                <a:solidFill>
                  <a:srgbClr val="99A0AB"/>
                </a:solidFill>
                <a:latin typeface="JetBrains Mono"/>
              </a:rPr>
              <a:t>800 llamadas/día</a:t>
            </a:r>
          </a:p>
          <a:p>
            <a:pPr algn="l">
              <a:lnSpc>
                <a:spcPct val="130000"/>
              </a:lnSpc>
            </a:pPr>
            <a:r>
              <a:rPr sz="1050" b="0" i="0">
                <a:solidFill>
                  <a:srgbClr val="99A0AB"/>
                </a:solidFill>
                <a:latin typeface="JetBrains Mono"/>
              </a:rPr>
              <a:t>EE.UU. + Europa</a:t>
            </a:r>
          </a:p>
          <a:p>
            <a:pPr algn="l">
              <a:lnSpc>
                <a:spcPct val="130000"/>
              </a:lnSpc>
            </a:pPr>
            <a:r>
              <a:rPr sz="1050" b="0" i="0">
                <a:solidFill>
                  <a:srgbClr val="99A0AB"/>
                </a:solidFill>
                <a:latin typeface="JetBrains Mono"/>
              </a:rPr>
              <a:t>Proveedor por defecto</a:t>
            </a:r>
          </a:p>
        </p:txBody>
      </p:sp>
      <p:sp>
        <p:nvSpPr>
          <p:cNvPr id="10" name="TextBox 9"/>
          <p:cNvSpPr txBox="1"/>
          <p:nvPr/>
        </p:nvSpPr>
        <p:spPr>
          <a:xfrm>
            <a:off x="3749040" y="1965960"/>
            <a:ext cx="384048" cy="1371600"/>
          </a:xfrm>
          <a:prstGeom prst="rect">
            <a:avLst/>
          </a:prstGeom>
          <a:noFill/>
        </p:spPr>
        <p:txBody>
          <a:bodyPr wrap="square" lIns="0" tIns="0" rIns="0" bIns="0" anchor="ctr">
            <a:spAutoFit/>
          </a:bodyPr>
          <a:lstStyle/>
          <a:p>
            <a:pPr algn="ctr">
              <a:lnSpc>
                <a:spcPct val="115000"/>
              </a:lnSpc>
            </a:pPr>
            <a:r>
              <a:rPr sz="2200" b="1" i="0">
                <a:solidFill>
                  <a:srgbClr val="C9A45C"/>
                </a:solidFill>
                <a:latin typeface="JetBrains Mono"/>
              </a:rPr>
              <a:t>→</a:t>
            </a:r>
          </a:p>
        </p:txBody>
      </p:sp>
      <p:sp>
        <p:nvSpPr>
          <p:cNvPr id="11" name="Rounded Rectangle 10"/>
          <p:cNvSpPr/>
          <p:nvPr/>
        </p:nvSpPr>
        <p:spPr>
          <a:xfrm>
            <a:off x="4133088" y="1965960"/>
            <a:ext cx="3063240" cy="13716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297680" y="2130552"/>
            <a:ext cx="365760" cy="365760"/>
          </a:xfrm>
          <a:prstGeom prst="ellipse">
            <a:avLst/>
          </a:prstGeom>
          <a:solidFill>
            <a:srgbClr val="2A2412"/>
          </a:solidFill>
          <a:ln w="12700">
            <a:solidFill>
              <a:srgbClr val="C9A45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C9A45C"/>
                </a:solidFill>
                <a:latin typeface="JetBrains Mono"/>
              </a:rPr>
              <a:t>2º</a:t>
            </a:r>
          </a:p>
        </p:txBody>
      </p:sp>
      <p:sp>
        <p:nvSpPr>
          <p:cNvPr id="13" name="TextBox 12"/>
          <p:cNvSpPr txBox="1"/>
          <p:nvPr/>
        </p:nvSpPr>
        <p:spPr>
          <a:xfrm>
            <a:off x="4773168" y="2148840"/>
            <a:ext cx="2240280" cy="320040"/>
          </a:xfrm>
          <a:prstGeom prst="rect">
            <a:avLst/>
          </a:prstGeom>
          <a:noFill/>
        </p:spPr>
        <p:txBody>
          <a:bodyPr wrap="square" lIns="0" tIns="0" rIns="0" bIns="0" anchor="t">
            <a:spAutoFit/>
          </a:bodyPr>
          <a:lstStyle/>
          <a:p>
            <a:pPr algn="l">
              <a:lnSpc>
                <a:spcPct val="115000"/>
              </a:lnSpc>
            </a:pPr>
            <a:r>
              <a:rPr sz="1450" b="1" i="0">
                <a:solidFill>
                  <a:srgbClr val="E7E9ED"/>
                </a:solidFill>
                <a:latin typeface="Space Grotesk"/>
              </a:rPr>
              <a:t>EODHD</a:t>
            </a:r>
          </a:p>
        </p:txBody>
      </p:sp>
      <p:sp>
        <p:nvSpPr>
          <p:cNvPr id="14" name="TextBox 13"/>
          <p:cNvSpPr txBox="1"/>
          <p:nvPr/>
        </p:nvSpPr>
        <p:spPr>
          <a:xfrm>
            <a:off x="4389120" y="2624328"/>
            <a:ext cx="2560320" cy="640080"/>
          </a:xfrm>
          <a:prstGeom prst="rect">
            <a:avLst/>
          </a:prstGeom>
          <a:noFill/>
        </p:spPr>
        <p:txBody>
          <a:bodyPr wrap="square" lIns="0" tIns="0" rIns="0" bIns="0" anchor="t">
            <a:spAutoFit/>
          </a:bodyPr>
          <a:lstStyle/>
          <a:p>
            <a:pPr algn="l">
              <a:lnSpc>
                <a:spcPct val="130000"/>
              </a:lnSpc>
            </a:pPr>
            <a:r>
              <a:rPr sz="1050" b="0" i="0">
                <a:solidFill>
                  <a:srgbClr val="99A0AB"/>
                </a:solidFill>
                <a:latin typeface="JetBrains Mono"/>
              </a:rPr>
              <a:t>20 llamadas/día</a:t>
            </a:r>
          </a:p>
          <a:p>
            <a:pPr algn="l">
              <a:lnSpc>
                <a:spcPct val="130000"/>
              </a:lnSpc>
            </a:pPr>
            <a:r>
              <a:rPr sz="1050" b="0" i="0">
                <a:solidFill>
                  <a:srgbClr val="99A0AB"/>
                </a:solidFill>
                <a:latin typeface="JetBrains Mono"/>
              </a:rPr>
              <a:t>Europa (BME, Xetra, Euronext, LSE)</a:t>
            </a:r>
          </a:p>
          <a:p>
            <a:pPr algn="l">
              <a:lnSpc>
                <a:spcPct val="130000"/>
              </a:lnSpc>
            </a:pPr>
            <a:r>
              <a:rPr sz="1050" b="0" i="0">
                <a:solidFill>
                  <a:srgbClr val="99A0AB"/>
                </a:solidFill>
                <a:latin typeface="JetBrains Mono"/>
              </a:rPr>
              <a:t>Fallback, histórico limitado a 1 año</a:t>
            </a:r>
          </a:p>
        </p:txBody>
      </p:sp>
      <p:sp>
        <p:nvSpPr>
          <p:cNvPr id="15" name="TextBox 14"/>
          <p:cNvSpPr txBox="1"/>
          <p:nvPr/>
        </p:nvSpPr>
        <p:spPr>
          <a:xfrm>
            <a:off x="7196328" y="1965960"/>
            <a:ext cx="384048" cy="1371600"/>
          </a:xfrm>
          <a:prstGeom prst="rect">
            <a:avLst/>
          </a:prstGeom>
          <a:noFill/>
        </p:spPr>
        <p:txBody>
          <a:bodyPr wrap="square" lIns="0" tIns="0" rIns="0" bIns="0" anchor="ctr">
            <a:spAutoFit/>
          </a:bodyPr>
          <a:lstStyle/>
          <a:p>
            <a:pPr algn="ctr">
              <a:lnSpc>
                <a:spcPct val="115000"/>
              </a:lnSpc>
            </a:pPr>
            <a:r>
              <a:rPr sz="2200" b="1" i="0">
                <a:solidFill>
                  <a:srgbClr val="C9A45C"/>
                </a:solidFill>
                <a:latin typeface="JetBrains Mono"/>
              </a:rPr>
              <a:t>→</a:t>
            </a:r>
          </a:p>
        </p:txBody>
      </p:sp>
      <p:sp>
        <p:nvSpPr>
          <p:cNvPr id="16" name="Rounded Rectangle 15"/>
          <p:cNvSpPr/>
          <p:nvPr/>
        </p:nvSpPr>
        <p:spPr>
          <a:xfrm>
            <a:off x="7580376" y="1965960"/>
            <a:ext cx="3063240" cy="13716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44968" y="2130552"/>
            <a:ext cx="365760" cy="365760"/>
          </a:xfrm>
          <a:prstGeom prst="ellipse">
            <a:avLst/>
          </a:prstGeom>
          <a:solidFill>
            <a:srgbClr val="2A2412"/>
          </a:solidFill>
          <a:ln w="12700">
            <a:solidFill>
              <a:srgbClr val="C9A45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C9A45C"/>
                </a:solidFill>
                <a:latin typeface="JetBrains Mono"/>
              </a:rPr>
              <a:t>3º</a:t>
            </a:r>
          </a:p>
        </p:txBody>
      </p:sp>
      <p:sp>
        <p:nvSpPr>
          <p:cNvPr id="18" name="TextBox 17"/>
          <p:cNvSpPr txBox="1"/>
          <p:nvPr/>
        </p:nvSpPr>
        <p:spPr>
          <a:xfrm>
            <a:off x="8220456" y="2148840"/>
            <a:ext cx="2240280" cy="320040"/>
          </a:xfrm>
          <a:prstGeom prst="rect">
            <a:avLst/>
          </a:prstGeom>
          <a:noFill/>
        </p:spPr>
        <p:txBody>
          <a:bodyPr wrap="square" lIns="0" tIns="0" rIns="0" bIns="0" anchor="t">
            <a:spAutoFit/>
          </a:bodyPr>
          <a:lstStyle/>
          <a:p>
            <a:pPr algn="l">
              <a:lnSpc>
                <a:spcPct val="115000"/>
              </a:lnSpc>
            </a:pPr>
            <a:r>
              <a:rPr sz="1450" b="1" i="0">
                <a:solidFill>
                  <a:srgbClr val="E7E9ED"/>
                </a:solidFill>
                <a:latin typeface="Space Grotesk"/>
              </a:rPr>
              <a:t>Finnhub</a:t>
            </a:r>
          </a:p>
        </p:txBody>
      </p:sp>
      <p:sp>
        <p:nvSpPr>
          <p:cNvPr id="19" name="TextBox 18"/>
          <p:cNvSpPr txBox="1"/>
          <p:nvPr/>
        </p:nvSpPr>
        <p:spPr>
          <a:xfrm>
            <a:off x="7836408" y="2624328"/>
            <a:ext cx="2560320" cy="640080"/>
          </a:xfrm>
          <a:prstGeom prst="rect">
            <a:avLst/>
          </a:prstGeom>
          <a:noFill/>
        </p:spPr>
        <p:txBody>
          <a:bodyPr wrap="square" lIns="0" tIns="0" rIns="0" bIns="0" anchor="t">
            <a:spAutoFit/>
          </a:bodyPr>
          <a:lstStyle/>
          <a:p>
            <a:pPr algn="l">
              <a:lnSpc>
                <a:spcPct val="130000"/>
              </a:lnSpc>
            </a:pPr>
            <a:r>
              <a:rPr sz="1050" b="0" i="0">
                <a:solidFill>
                  <a:srgbClr val="99A0AB"/>
                </a:solidFill>
                <a:latin typeface="JetBrains Mono"/>
              </a:rPr>
              <a:t>60 llamadas/minuto</a:t>
            </a:r>
          </a:p>
          <a:p>
            <a:pPr algn="l">
              <a:lnSpc>
                <a:spcPct val="130000"/>
              </a:lnSpc>
            </a:pPr>
            <a:r>
              <a:rPr sz="1050" b="0" i="0">
                <a:solidFill>
                  <a:srgbClr val="99A0AB"/>
                </a:solidFill>
                <a:latin typeface="JetBrains Mono"/>
              </a:rPr>
              <a:t>Solo EE.UU. en plan gratuito</a:t>
            </a:r>
          </a:p>
          <a:p>
            <a:pPr algn="l">
              <a:lnSpc>
                <a:spcPct val="130000"/>
              </a:lnSpc>
            </a:pPr>
            <a:r>
              <a:rPr sz="1050" b="0" i="0">
                <a:solidFill>
                  <a:srgbClr val="99A0AB"/>
                </a:solidFill>
                <a:latin typeface="JetBrains Mono"/>
              </a:rPr>
              <a:t>Último recurso</a:t>
            </a:r>
          </a:p>
        </p:txBody>
      </p:sp>
      <p:sp>
        <p:nvSpPr>
          <p:cNvPr id="20" name="TextBox 19"/>
          <p:cNvSpPr txBox="1"/>
          <p:nvPr/>
        </p:nvSpPr>
        <p:spPr>
          <a:xfrm>
            <a:off x="685800" y="3538728"/>
            <a:ext cx="10241280" cy="320040"/>
          </a:xfrm>
          <a:prstGeom prst="rect">
            <a:avLst/>
          </a:prstGeom>
          <a:noFill/>
        </p:spPr>
        <p:txBody>
          <a:bodyPr wrap="square" lIns="0" tIns="0" rIns="0" bIns="0" anchor="t">
            <a:spAutoFit/>
          </a:bodyPr>
          <a:lstStyle/>
          <a:p>
            <a:pPr algn="l">
              <a:lnSpc>
                <a:spcPct val="115000"/>
              </a:lnSpc>
            </a:pPr>
            <a:r>
              <a:rPr sz="1100" b="0" i="0">
                <a:solidFill>
                  <a:srgbClr val="5C6472"/>
                </a:solidFill>
                <a:latin typeface="JetBrains Mono"/>
              </a:rPr>
              <a:t>MERCADO — solo se reintenta con el siguiente proveedor el subconjunto de activos NO resuelto por el anterior</a:t>
            </a:r>
          </a:p>
        </p:txBody>
      </p:sp>
      <p:sp>
        <p:nvSpPr>
          <p:cNvPr id="21" name="Rounded Rectangle 20"/>
          <p:cNvSpPr/>
          <p:nvPr/>
        </p:nvSpPr>
        <p:spPr>
          <a:xfrm>
            <a:off x="685800" y="3977640"/>
            <a:ext cx="10241280" cy="86868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50392" y="4142232"/>
            <a:ext cx="365760" cy="365760"/>
          </a:xfrm>
          <a:prstGeom prst="ellipse">
            <a:avLst/>
          </a:prstGeom>
          <a:solidFill>
            <a:srgbClr val="2A2412"/>
          </a:solidFill>
          <a:ln w="12700">
            <a:solidFill>
              <a:srgbClr val="C9A45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C9A45C"/>
                </a:solidFill>
                <a:latin typeface="JetBrains Mono"/>
              </a:rPr>
              <a:t>FX</a:t>
            </a:r>
          </a:p>
        </p:txBody>
      </p:sp>
      <p:sp>
        <p:nvSpPr>
          <p:cNvPr id="23" name="TextBox 22"/>
          <p:cNvSpPr txBox="1"/>
          <p:nvPr/>
        </p:nvSpPr>
        <p:spPr>
          <a:xfrm>
            <a:off x="1325880" y="4160520"/>
            <a:ext cx="9418320" cy="320040"/>
          </a:xfrm>
          <a:prstGeom prst="rect">
            <a:avLst/>
          </a:prstGeom>
          <a:noFill/>
        </p:spPr>
        <p:txBody>
          <a:bodyPr wrap="square" lIns="0" tIns="0" rIns="0" bIns="0" anchor="t">
            <a:spAutoFit/>
          </a:bodyPr>
          <a:lstStyle/>
          <a:p>
            <a:pPr algn="l">
              <a:lnSpc>
                <a:spcPct val="115000"/>
              </a:lnSpc>
            </a:pPr>
            <a:r>
              <a:rPr sz="1450" b="1" i="0">
                <a:solidFill>
                  <a:srgbClr val="E7E9ED"/>
                </a:solidFill>
                <a:latin typeface="Space Grotesk"/>
              </a:rPr>
              <a:t>Frankfurter</a:t>
            </a:r>
          </a:p>
        </p:txBody>
      </p:sp>
      <p:sp>
        <p:nvSpPr>
          <p:cNvPr id="24" name="TextBox 23"/>
          <p:cNvSpPr txBox="1"/>
          <p:nvPr/>
        </p:nvSpPr>
        <p:spPr>
          <a:xfrm>
            <a:off x="941832" y="4636008"/>
            <a:ext cx="9738360" cy="137160"/>
          </a:xfrm>
          <a:prstGeom prst="rect">
            <a:avLst/>
          </a:prstGeom>
          <a:noFill/>
        </p:spPr>
        <p:txBody>
          <a:bodyPr wrap="square" lIns="0" tIns="0" rIns="0" bIns="0" anchor="t">
            <a:spAutoFit/>
          </a:bodyPr>
          <a:lstStyle/>
          <a:p>
            <a:pPr algn="l">
              <a:lnSpc>
                <a:spcPct val="130000"/>
              </a:lnSpc>
            </a:pPr>
            <a:r>
              <a:rPr sz="1050" b="0" i="0">
                <a:solidFill>
                  <a:srgbClr val="99A0AB"/>
                </a:solidFill>
                <a:latin typeface="JetBrains Mono"/>
              </a:rPr>
              <a:t>Tipos de cambio del Banco Central Europeo · ilimitado, sin clave de API</a:t>
            </a:r>
          </a:p>
        </p:txBody>
      </p:sp>
      <p:sp>
        <p:nvSpPr>
          <p:cNvPr id="25" name="TextBox 24"/>
          <p:cNvSpPr txBox="1"/>
          <p:nvPr/>
        </p:nvSpPr>
        <p:spPr>
          <a:xfrm>
            <a:off x="685800" y="5029200"/>
            <a:ext cx="10241280" cy="1005840"/>
          </a:xfrm>
          <a:prstGeom prst="rect">
            <a:avLst/>
          </a:prstGeom>
          <a:noFill/>
        </p:spPr>
        <p:txBody>
          <a:bodyPr wrap="square" lIns="0" tIns="0" rIns="0" bIns="0">
            <a:spAutoFit/>
          </a:bodyPr>
          <a:lstStyle/>
          <a:p>
            <a:pPr>
              <a:lnSpc>
                <a:spcPct val="130000"/>
              </a:lnSpc>
              <a:spcAft>
                <a:spcPts val="400"/>
              </a:spcAft>
            </a:pPr>
            <a:r>
              <a:rPr sz="1250" b="1">
                <a:solidFill>
                  <a:srgbClr val="C9A45C"/>
                </a:solidFill>
                <a:latin typeface="Space Grotesk"/>
              </a:rPr>
              <a:t>▪  </a:t>
            </a:r>
            <a:r>
              <a:rPr sz="1250">
                <a:solidFill>
                  <a:srgbClr val="99A0AB"/>
                </a:solidFill>
                <a:latin typeface="Space Grotesk"/>
              </a:rPr>
              <a:t>Sin memoria entre ejecuciones: cada trabajo diario reintenta desde el primer proveedor (decisión deliberada de simplicidad)</a:t>
            </a:r>
          </a:p>
          <a:p>
            <a:pPr>
              <a:lnSpc>
                <a:spcPct val="130000"/>
              </a:lnSpc>
              <a:spcAft>
                <a:spcPts val="400"/>
              </a:spcAft>
            </a:pPr>
            <a:r>
              <a:rPr sz="1250" b="1">
                <a:solidFill>
                  <a:srgbClr val="C9A45C"/>
                </a:solidFill>
                <a:latin typeface="Space Grotesk"/>
              </a:rPr>
              <a:t>▪  </a:t>
            </a:r>
            <a:r>
              <a:rPr sz="1250">
                <a:solidFill>
                  <a:srgbClr val="99A0AB"/>
                </a:solidFill>
                <a:latin typeface="Space Grotesk"/>
              </a:rPr>
              <a:t>Contrato único de adaptador (MarketDataProvider / FxDataProvider): añadir un proveedor nuevo no toca la lógica de negocio</a:t>
            </a:r>
          </a:p>
        </p:txBody>
      </p:sp>
      <p:sp>
        <p:nvSpPr>
          <p:cNvPr id="26" name="TextBox 25"/>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27" name="TextBox 26"/>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03 · HUB TÉCNICO</a:t>
            </a:r>
          </a:p>
        </p:txBody>
      </p:sp>
      <p:sp>
        <p:nvSpPr>
          <p:cNvPr id="28" name="TextBox 27"/>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10</a:t>
            </a:r>
          </a:p>
        </p:txBody>
      </p:sp>
      <p:sp>
        <p:nvSpPr>
          <p:cNvPr id="29" name="Rectangle 28"/>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03 · HUB TÉCNICO</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Cuando todos los proveedores fallan: nunca en silencio</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10241280" cy="2651760"/>
          </a:xfrm>
          <a:prstGeom prst="rect">
            <a:avLst/>
          </a:prstGeom>
          <a:noFill/>
        </p:spPr>
        <p:txBody>
          <a:bodyPr wrap="square" lIns="0" tIns="0" rIns="0" bIns="0">
            <a:spAutoFit/>
          </a:bodyPr>
          <a:lstStyle/>
          <a:p>
            <a:pPr>
              <a:lnSpc>
                <a:spcPct val="150000"/>
              </a:lnSpc>
              <a:spcAft>
                <a:spcPts val="400"/>
              </a:spcAft>
            </a:pPr>
            <a:r>
              <a:rPr sz="1550" b="1">
                <a:solidFill>
                  <a:srgbClr val="C9A45C"/>
                </a:solidFill>
                <a:latin typeface="Space Grotesk"/>
              </a:rPr>
              <a:t>▪  </a:t>
            </a:r>
            <a:r>
              <a:rPr sz="1550" b="1">
                <a:solidFill>
                  <a:srgbClr val="E7E9ED"/>
                </a:solidFill>
                <a:latin typeface="Space Grotesk"/>
              </a:rPr>
              <a:t>CascadeFailureReport.</a:t>
            </a:r>
            <a:r>
              <a:rPr sz="1550">
                <a:solidFill>
                  <a:srgbClr val="99A0AB"/>
                </a:solidFill>
                <a:latin typeface="Space Grotesk"/>
              </a:rPr>
              <a:t> registra qué activo falló, con qué proveedores se intentó y el motivo exacto (no encontrado, límite de llamadas, histórico insuficiente, error del proveedor)</a:t>
            </a:r>
          </a:p>
          <a:p>
            <a:pPr>
              <a:lnSpc>
                <a:spcPct val="150000"/>
              </a:lnSpc>
              <a:spcAft>
                <a:spcPts val="400"/>
              </a:spcAft>
            </a:pPr>
            <a:r>
              <a:rPr sz="1550" b="1">
                <a:solidFill>
                  <a:srgbClr val="C9A45C"/>
                </a:solidFill>
                <a:latin typeface="Space Grotesk"/>
              </a:rPr>
              <a:t>▪  </a:t>
            </a:r>
            <a:r>
              <a:rPr sz="1550" b="1">
                <a:solidFill>
                  <a:srgbClr val="E7E9ED"/>
                </a:solidFill>
                <a:latin typeface="Space Grotesk"/>
              </a:rPr>
              <a:t>Notificación al usuario.</a:t>
            </a:r>
            <a:r>
              <a:rPr sz="1550">
                <a:solidFill>
                  <a:srgbClr val="99A0AB"/>
                </a:solidFill>
                <a:latin typeface="Space Grotesk"/>
              </a:rPr>
              <a:t> “N de tus activos no se pudieron actualizar hoy — ver detalle”, con acceso solo a sus propios activos</a:t>
            </a:r>
          </a:p>
          <a:p>
            <a:pPr>
              <a:lnSpc>
                <a:spcPct val="150000"/>
              </a:lnSpc>
              <a:spcAft>
                <a:spcPts val="400"/>
              </a:spcAft>
            </a:pPr>
            <a:r>
              <a:rPr sz="1550" b="1">
                <a:solidFill>
                  <a:srgbClr val="C9A45C"/>
                </a:solidFill>
                <a:latin typeface="Space Grotesk"/>
              </a:rPr>
              <a:t>▪  </a:t>
            </a:r>
            <a:r>
              <a:rPr sz="1550" b="1">
                <a:solidFill>
                  <a:srgbClr val="E7E9ED"/>
                </a:solidFill>
                <a:latin typeface="Space Grotesk"/>
              </a:rPr>
              <a:t>Vista de administrador.</a:t>
            </a:r>
            <a:r>
              <a:rPr sz="1550">
                <a:solidFill>
                  <a:srgbClr val="99A0AB"/>
                </a:solidFill>
                <a:latin typeface="Space Grotesk"/>
              </a:rPr>
              <a:t> reporte cruzado de fallos de todos los usuarios, filtrable por fecha, proveedor y motivo</a:t>
            </a:r>
          </a:p>
          <a:p>
            <a:pPr>
              <a:lnSpc>
                <a:spcPct val="150000"/>
              </a:lnSpc>
              <a:spcAft>
                <a:spcPts val="400"/>
              </a:spcAft>
            </a:pPr>
            <a:r>
              <a:rPr sz="1550" b="1">
                <a:solidFill>
                  <a:srgbClr val="C9A45C"/>
                </a:solidFill>
                <a:latin typeface="Space Grotesk"/>
              </a:rPr>
              <a:t>▪  </a:t>
            </a:r>
            <a:r>
              <a:rPr sz="1550" b="1">
                <a:solidFill>
                  <a:srgbClr val="E7E9ED"/>
                </a:solidFill>
                <a:latin typeface="Space Grotesk"/>
              </a:rPr>
              <a:t>Retención configurable.</a:t>
            </a:r>
            <a:r>
              <a:rPr sz="1550">
                <a:solidFill>
                  <a:srgbClr val="99A0AB"/>
                </a:solidFill>
                <a:latin typeface="Space Grotesk"/>
              </a:rPr>
              <a:t> 30 días por defecto, con limpieza automática</a:t>
            </a:r>
          </a:p>
        </p:txBody>
      </p:sp>
      <p:sp>
        <p:nvSpPr>
          <p:cNvPr id="7" name="Rounded Rectangle 6"/>
          <p:cNvSpPr/>
          <p:nvPr/>
        </p:nvSpPr>
        <p:spPr>
          <a:xfrm>
            <a:off x="777240" y="5074920"/>
            <a:ext cx="10241280" cy="86868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5074920"/>
            <a:ext cx="54864" cy="86868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5230368"/>
            <a:ext cx="9784080" cy="548640"/>
          </a:xfrm>
          <a:prstGeom prst="rect">
            <a:avLst/>
          </a:prstGeom>
          <a:noFill/>
        </p:spPr>
        <p:txBody>
          <a:bodyPr wrap="square" lIns="0" tIns="0" rIns="0" bIns="0" anchor="t">
            <a:spAutoFit/>
          </a:bodyPr>
          <a:lstStyle/>
          <a:p>
            <a:pPr algn="l">
              <a:lnSpc>
                <a:spcPct val="130000"/>
              </a:lnSpc>
            </a:pPr>
            <a:r>
              <a:rPr sz="1350" b="0" i="1">
                <a:solidFill>
                  <a:srgbClr val="E7E9ED"/>
                </a:solidFill>
                <a:latin typeface="Space Grotesk"/>
              </a:rPr>
              <a:t>Principio de diseño: fallo explícito en vez de aproximación silenciosa. El sistema nunca inventa un precio ni oculta que un dato no pudo actualizarse.</a:t>
            </a:r>
          </a:p>
        </p:txBody>
      </p:sp>
      <p:sp>
        <p:nvSpPr>
          <p:cNvPr id="10" name="TextBox 9"/>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1" name="TextBox 10"/>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03 · HUB TÉCNICO</a:t>
            </a:r>
          </a:p>
        </p:txBody>
      </p:sp>
      <p:sp>
        <p:nvSpPr>
          <p:cNvPr id="12" name="TextBox 11"/>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11</a:t>
            </a:r>
          </a:p>
        </p:txBody>
      </p:sp>
      <p:sp>
        <p:nvSpPr>
          <p:cNvPr id="13" name="Rectangle 12"/>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04</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Motores de cálculo</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FX, KPIs de cartera, indicadores y alertas</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04 · MOTORES DE CÁLCULO</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12</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04 · MOTORES DE CÁLCULO</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Motor de cálculo FX y KPIs de cartera</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10241280" cy="1828800"/>
          </a:xfrm>
          <a:prstGeom prst="rect">
            <a:avLst/>
          </a:prstGeom>
          <a:noFill/>
        </p:spPr>
        <p:txBody>
          <a:bodyPr wrap="square" lIns="0" tIns="0" rIns="0" bIns="0">
            <a:spAutoFit/>
          </a:bodyPr>
          <a:lstStyle/>
          <a:p>
            <a:pPr>
              <a:lnSpc>
                <a:spcPct val="145000"/>
              </a:lnSpc>
              <a:spcAft>
                <a:spcPts val="400"/>
              </a:spcAft>
            </a:pPr>
            <a:r>
              <a:rPr sz="1550" b="1">
                <a:solidFill>
                  <a:srgbClr val="C9A45C"/>
                </a:solidFill>
                <a:latin typeface="Space Grotesk"/>
              </a:rPr>
              <a:t>▪  </a:t>
            </a:r>
            <a:r>
              <a:rPr sz="1550">
                <a:solidFill>
                  <a:srgbClr val="99A0AB"/>
                </a:solidFill>
                <a:latin typeface="Space Grotesk"/>
              </a:rPr>
              <a:t>Cada compra se registra como un lote independiente, con su propio tipo de cambio en la fecha de compra</a:t>
            </a:r>
          </a:p>
          <a:p>
            <a:pPr>
              <a:lnSpc>
                <a:spcPct val="145000"/>
              </a:lnSpc>
              <a:spcAft>
                <a:spcPts val="400"/>
              </a:spcAft>
            </a:pPr>
            <a:r>
              <a:rPr sz="1550" b="1">
                <a:solidFill>
                  <a:srgbClr val="C9A45C"/>
                </a:solidFill>
                <a:latin typeface="Space Grotesk"/>
              </a:rPr>
              <a:t>▪  </a:t>
            </a:r>
            <a:r>
              <a:rPr sz="1550">
                <a:solidFill>
                  <a:srgbClr val="99A0AB"/>
                </a:solidFill>
                <a:latin typeface="Space Grotesk"/>
              </a:rPr>
              <a:t>Se calculan por separado: rendimiento del activo (su moneda), rendimiento en moneda base y el efecto aislado del tipo de cambio</a:t>
            </a:r>
          </a:p>
          <a:p>
            <a:pPr>
              <a:lnSpc>
                <a:spcPct val="145000"/>
              </a:lnSpc>
              <a:spcAft>
                <a:spcPts val="400"/>
              </a:spcAft>
            </a:pPr>
            <a:r>
              <a:rPr sz="1550" b="1">
                <a:solidFill>
                  <a:srgbClr val="C9A45C"/>
                </a:solidFill>
                <a:latin typeface="Space Grotesk"/>
              </a:rPr>
              <a:t>▪  </a:t>
            </a:r>
            <a:r>
              <a:rPr sz="1550">
                <a:solidFill>
                  <a:srgbClr val="99A0AB"/>
                </a:solidFill>
                <a:latin typeface="Space Grotesk"/>
              </a:rPr>
              <a:t>Función pura, determinista, con 98% de cobertura en tests unitarios</a:t>
            </a:r>
          </a:p>
        </p:txBody>
      </p:sp>
      <p:sp>
        <p:nvSpPr>
          <p:cNvPr id="7" name="Rounded Rectangle 6"/>
          <p:cNvSpPr/>
          <p:nvPr/>
        </p:nvSpPr>
        <p:spPr>
          <a:xfrm>
            <a:off x="777240" y="3977639"/>
            <a:ext cx="10241280" cy="105156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4114800"/>
            <a:ext cx="9784080" cy="274320"/>
          </a:xfrm>
          <a:prstGeom prst="rect">
            <a:avLst/>
          </a:prstGeom>
          <a:noFill/>
        </p:spPr>
        <p:txBody>
          <a:bodyPr wrap="square" lIns="0" tIns="0" rIns="0" bIns="0" anchor="t">
            <a:spAutoFit/>
          </a:bodyPr>
          <a:lstStyle/>
          <a:p>
            <a:pPr algn="l">
              <a:lnSpc>
                <a:spcPct val="115000"/>
              </a:lnSpc>
            </a:pPr>
            <a:r>
              <a:rPr sz="1100" b="1" i="0">
                <a:solidFill>
                  <a:srgbClr val="C9A45C"/>
                </a:solidFill>
                <a:latin typeface="JetBrains Mono"/>
              </a:rPr>
              <a:t>KPIS DE CARTERA (moneda base)</a:t>
            </a:r>
          </a:p>
        </p:txBody>
      </p:sp>
      <p:sp>
        <p:nvSpPr>
          <p:cNvPr id="9" name="TextBox 8"/>
          <p:cNvSpPr txBox="1"/>
          <p:nvPr/>
        </p:nvSpPr>
        <p:spPr>
          <a:xfrm>
            <a:off x="1005840" y="4434840"/>
            <a:ext cx="9784080" cy="457200"/>
          </a:xfrm>
          <a:prstGeom prst="rect">
            <a:avLst/>
          </a:prstGeom>
          <a:noFill/>
        </p:spPr>
        <p:txBody>
          <a:bodyPr wrap="square" lIns="0" tIns="0" rIns="0" bIns="0" anchor="t">
            <a:spAutoFit/>
          </a:bodyPr>
          <a:lstStyle/>
          <a:p>
            <a:pPr algn="l">
              <a:lnSpc>
                <a:spcPct val="115000"/>
              </a:lnSpc>
            </a:pPr>
            <a:r>
              <a:rPr sz="1600" b="0" i="0">
                <a:solidFill>
                  <a:srgbClr val="E7E9ED"/>
                </a:solidFill>
                <a:latin typeface="JetBrains Mono"/>
              </a:rPr>
              <a:t>TWR · CAGR · Drawdown máximo · Volatilidad · Sharpe</a:t>
            </a:r>
          </a:p>
        </p:txBody>
      </p:sp>
      <p:sp>
        <p:nvSpPr>
          <p:cNvPr id="10" name="Rounded Rectangle 9"/>
          <p:cNvSpPr/>
          <p:nvPr/>
        </p:nvSpPr>
        <p:spPr>
          <a:xfrm>
            <a:off x="777240" y="5257800"/>
            <a:ext cx="10241280" cy="77724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77240" y="5257800"/>
            <a:ext cx="54864" cy="77724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413248"/>
            <a:ext cx="9692640" cy="502920"/>
          </a:xfrm>
          <a:prstGeom prst="rect">
            <a:avLst/>
          </a:prstGeom>
          <a:noFill/>
        </p:spPr>
        <p:txBody>
          <a:bodyPr wrap="square" lIns="0" tIns="0" rIns="0" bIns="0" anchor="t">
            <a:spAutoFit/>
          </a:bodyPr>
          <a:lstStyle/>
          <a:p>
            <a:pPr algn="l">
              <a:lnSpc>
                <a:spcPct val="125000"/>
              </a:lnSpc>
            </a:pPr>
            <a:r>
              <a:rPr sz="1300" b="0" i="1">
                <a:solidFill>
                  <a:srgbClr val="E7E9ED"/>
                </a:solidFill>
                <a:latin typeface="Space Grotesk"/>
              </a:rPr>
              <a:t>Responde a una pregunta clave para el inversor: “¿gano dinero porque el activo sube, o porque se mueve el tipo de cambio?”</a:t>
            </a:r>
          </a:p>
        </p:txBody>
      </p:sp>
      <p:sp>
        <p:nvSpPr>
          <p:cNvPr id="13" name="TextBox 12"/>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4" name="TextBox 13"/>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04 · MOTORES DE CÁLCULO</a:t>
            </a:r>
          </a:p>
        </p:txBody>
      </p:sp>
      <p:sp>
        <p:nvSpPr>
          <p:cNvPr id="15" name="TextBox 14"/>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13</a:t>
            </a:r>
          </a:p>
        </p:txBody>
      </p:sp>
      <p:sp>
        <p:nvSpPr>
          <p:cNvPr id="16" name="Rectangle 15"/>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04 · MOTORES DE CÁLCULO</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Indicadores técnicos y fundamentales — 100% configurables</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10241280" cy="457200"/>
          </a:xfrm>
          <a:prstGeom prst="rect">
            <a:avLst/>
          </a:prstGeom>
          <a:noFill/>
        </p:spPr>
        <p:txBody>
          <a:bodyPr wrap="square" lIns="0" tIns="0" rIns="0" bIns="0" anchor="t">
            <a:spAutoFit/>
          </a:bodyPr>
          <a:lstStyle/>
          <a:p>
            <a:pPr algn="l">
              <a:lnSpc>
                <a:spcPct val="115000"/>
              </a:lnSpc>
            </a:pPr>
            <a:r>
              <a:rPr sz="1400" b="0" i="0">
                <a:solidFill>
                  <a:srgbClr val="99A0AB"/>
                </a:solidFill>
                <a:latin typeface="Space Grotesk"/>
              </a:rPr>
              <a:t>El catálogo vive en un archivo de configuración (YAML), no en código: añadir un indicador nuevo no requiere desplegar.</a:t>
            </a:r>
          </a:p>
        </p:txBody>
      </p:sp>
      <p:sp>
        <p:nvSpPr>
          <p:cNvPr id="7" name="Rounded Rectangle 6"/>
          <p:cNvSpPr/>
          <p:nvPr/>
        </p:nvSpPr>
        <p:spPr>
          <a:xfrm>
            <a:off x="685800" y="2606040"/>
            <a:ext cx="5074920" cy="329184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035040" y="2606040"/>
            <a:ext cx="5074920" cy="329184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862072"/>
            <a:ext cx="4526280" cy="320040"/>
          </a:xfrm>
          <a:prstGeom prst="rect">
            <a:avLst/>
          </a:prstGeom>
          <a:noFill/>
        </p:spPr>
        <p:txBody>
          <a:bodyPr wrap="square" lIns="0" tIns="0" rIns="0" bIns="0" anchor="t">
            <a:spAutoFit/>
          </a:bodyPr>
          <a:lstStyle/>
          <a:p>
            <a:pPr algn="l">
              <a:lnSpc>
                <a:spcPct val="115000"/>
              </a:lnSpc>
            </a:pPr>
            <a:r>
              <a:rPr sz="1250" b="1" i="0">
                <a:solidFill>
                  <a:srgbClr val="C9A45C"/>
                </a:solidFill>
                <a:latin typeface="JetBrains Mono"/>
              </a:rPr>
              <a:t>TÉCNICOS — actualización diaria</a:t>
            </a:r>
          </a:p>
        </p:txBody>
      </p:sp>
      <p:sp>
        <p:nvSpPr>
          <p:cNvPr id="10" name="TextBox 9"/>
          <p:cNvSpPr txBox="1"/>
          <p:nvPr/>
        </p:nvSpPr>
        <p:spPr>
          <a:xfrm>
            <a:off x="960120" y="3319272"/>
            <a:ext cx="4526280" cy="2377440"/>
          </a:xfrm>
          <a:prstGeom prst="rect">
            <a:avLst/>
          </a:prstGeom>
          <a:noFill/>
        </p:spPr>
        <p:txBody>
          <a:bodyPr wrap="square" lIns="0" tIns="0" rIns="0" bIns="0">
            <a:spAutoFit/>
          </a:bodyPr>
          <a:lstStyle/>
          <a:p>
            <a:pPr>
              <a:lnSpc>
                <a:spcPct val="155000"/>
              </a:lnSpc>
              <a:spcAft>
                <a:spcPts val="400"/>
              </a:spcAft>
            </a:pPr>
            <a:r>
              <a:rPr sz="1400" b="1">
                <a:solidFill>
                  <a:srgbClr val="C9A45C"/>
                </a:solidFill>
                <a:latin typeface="Space Grotesk"/>
              </a:rPr>
              <a:t>▪  </a:t>
            </a:r>
            <a:r>
              <a:rPr sz="1400">
                <a:solidFill>
                  <a:srgbClr val="99A0AB"/>
                </a:solidFill>
                <a:latin typeface="Space Grotesk"/>
              </a:rPr>
              <a:t>MA200 — tendencia de largo plazo</a:t>
            </a:r>
          </a:p>
          <a:p>
            <a:pPr>
              <a:lnSpc>
                <a:spcPct val="155000"/>
              </a:lnSpc>
              <a:spcAft>
                <a:spcPts val="400"/>
              </a:spcAft>
            </a:pPr>
            <a:r>
              <a:rPr sz="1400" b="1">
                <a:solidFill>
                  <a:srgbClr val="C9A45C"/>
                </a:solidFill>
                <a:latin typeface="Space Grotesk"/>
              </a:rPr>
              <a:t>▪  </a:t>
            </a:r>
            <a:r>
              <a:rPr sz="1400">
                <a:solidFill>
                  <a:srgbClr val="99A0AB"/>
                </a:solidFill>
                <a:latin typeface="Space Grotesk"/>
              </a:rPr>
              <a:t>Cruce MA50/MA200 — Golden / Death Cross</a:t>
            </a:r>
          </a:p>
          <a:p>
            <a:pPr>
              <a:lnSpc>
                <a:spcPct val="155000"/>
              </a:lnSpc>
              <a:spcAft>
                <a:spcPts val="400"/>
              </a:spcAft>
            </a:pPr>
            <a:r>
              <a:rPr sz="1400" b="1">
                <a:solidFill>
                  <a:srgbClr val="C9A45C"/>
                </a:solidFill>
                <a:latin typeface="Space Grotesk"/>
              </a:rPr>
              <a:t>▪  </a:t>
            </a:r>
            <a:r>
              <a:rPr sz="1400">
                <a:solidFill>
                  <a:srgbClr val="99A0AB"/>
                </a:solidFill>
                <a:latin typeface="Space Grotesk"/>
              </a:rPr>
              <a:t>RSI (14) — momentum del precio</a:t>
            </a:r>
          </a:p>
          <a:p>
            <a:pPr>
              <a:lnSpc>
                <a:spcPct val="155000"/>
              </a:lnSpc>
              <a:spcAft>
                <a:spcPts val="400"/>
              </a:spcAft>
            </a:pPr>
            <a:r>
              <a:rPr sz="1400" b="1">
                <a:solidFill>
                  <a:srgbClr val="C9A45C"/>
                </a:solidFill>
                <a:latin typeface="Space Grotesk"/>
              </a:rPr>
              <a:t>▪  </a:t>
            </a:r>
            <a:r>
              <a:rPr sz="1400">
                <a:solidFill>
                  <a:srgbClr val="99A0AB"/>
                </a:solidFill>
                <a:latin typeface="Space Grotesk"/>
              </a:rPr>
              <a:t>MACD — confirmación de impulso</a:t>
            </a:r>
          </a:p>
          <a:p>
            <a:pPr>
              <a:lnSpc>
                <a:spcPct val="155000"/>
              </a:lnSpc>
              <a:spcAft>
                <a:spcPts val="400"/>
              </a:spcAft>
            </a:pPr>
            <a:r>
              <a:rPr sz="1400" b="1">
                <a:solidFill>
                  <a:srgbClr val="C9A45C"/>
                </a:solidFill>
                <a:latin typeface="Space Grotesk"/>
              </a:rPr>
              <a:t>▪  </a:t>
            </a:r>
            <a:r>
              <a:rPr sz="1400">
                <a:solidFill>
                  <a:srgbClr val="99A0AB"/>
                </a:solidFill>
                <a:latin typeface="Space Grotesk"/>
              </a:rPr>
              <a:t>RVOL — volumen relativo</a:t>
            </a:r>
          </a:p>
        </p:txBody>
      </p:sp>
      <p:sp>
        <p:nvSpPr>
          <p:cNvPr id="11" name="TextBox 10"/>
          <p:cNvSpPr txBox="1"/>
          <p:nvPr/>
        </p:nvSpPr>
        <p:spPr>
          <a:xfrm>
            <a:off x="6309360" y="2862072"/>
            <a:ext cx="4526280" cy="320040"/>
          </a:xfrm>
          <a:prstGeom prst="rect">
            <a:avLst/>
          </a:prstGeom>
          <a:noFill/>
        </p:spPr>
        <p:txBody>
          <a:bodyPr wrap="square" lIns="0" tIns="0" rIns="0" bIns="0" anchor="t">
            <a:spAutoFit/>
          </a:bodyPr>
          <a:lstStyle/>
          <a:p>
            <a:pPr algn="l">
              <a:lnSpc>
                <a:spcPct val="115000"/>
              </a:lnSpc>
            </a:pPr>
            <a:r>
              <a:rPr sz="1250" b="1" i="0">
                <a:solidFill>
                  <a:srgbClr val="C9A45C"/>
                </a:solidFill>
                <a:latin typeface="JetBrains Mono"/>
              </a:rPr>
              <a:t>FUNDAMENTALES — trimestrales, vía informes</a:t>
            </a:r>
          </a:p>
        </p:txBody>
      </p:sp>
      <p:sp>
        <p:nvSpPr>
          <p:cNvPr id="12" name="TextBox 11"/>
          <p:cNvSpPr txBox="1"/>
          <p:nvPr/>
        </p:nvSpPr>
        <p:spPr>
          <a:xfrm>
            <a:off x="6309360" y="3319272"/>
            <a:ext cx="4526280" cy="2377440"/>
          </a:xfrm>
          <a:prstGeom prst="rect">
            <a:avLst/>
          </a:prstGeom>
          <a:noFill/>
        </p:spPr>
        <p:txBody>
          <a:bodyPr wrap="square" lIns="0" tIns="0" rIns="0" bIns="0">
            <a:spAutoFit/>
          </a:bodyPr>
          <a:lstStyle/>
          <a:p>
            <a:pPr>
              <a:lnSpc>
                <a:spcPct val="155000"/>
              </a:lnSpc>
              <a:spcAft>
                <a:spcPts val="400"/>
              </a:spcAft>
            </a:pPr>
            <a:r>
              <a:rPr sz="1400" b="1">
                <a:solidFill>
                  <a:srgbClr val="C9A45C"/>
                </a:solidFill>
                <a:latin typeface="Space Grotesk"/>
              </a:rPr>
              <a:t>▪  </a:t>
            </a:r>
            <a:r>
              <a:rPr sz="1400">
                <a:solidFill>
                  <a:srgbClr val="99A0AB"/>
                </a:solidFill>
                <a:latin typeface="Space Grotesk"/>
              </a:rPr>
              <a:t>PER — años de beneficio para recuperar el precio</a:t>
            </a:r>
          </a:p>
          <a:p>
            <a:pPr>
              <a:lnSpc>
                <a:spcPct val="155000"/>
              </a:lnSpc>
              <a:spcAft>
                <a:spcPts val="400"/>
              </a:spcAft>
            </a:pPr>
            <a:r>
              <a:rPr sz="1400" b="1">
                <a:solidFill>
                  <a:srgbClr val="C9A45C"/>
                </a:solidFill>
                <a:latin typeface="Space Grotesk"/>
              </a:rPr>
              <a:t>▪  </a:t>
            </a:r>
            <a:r>
              <a:rPr sz="1400">
                <a:solidFill>
                  <a:srgbClr val="99A0AB"/>
                </a:solidFill>
                <a:latin typeface="Space Grotesk"/>
              </a:rPr>
              <a:t>ROE — rentabilidad sobre el patrimonio</a:t>
            </a:r>
          </a:p>
          <a:p>
            <a:pPr>
              <a:lnSpc>
                <a:spcPct val="155000"/>
              </a:lnSpc>
              <a:spcAft>
                <a:spcPts val="400"/>
              </a:spcAft>
            </a:pPr>
            <a:r>
              <a:rPr sz="1400" b="1">
                <a:solidFill>
                  <a:srgbClr val="C9A45C"/>
                </a:solidFill>
                <a:latin typeface="Space Grotesk"/>
              </a:rPr>
              <a:t>▪  </a:t>
            </a:r>
            <a:r>
              <a:rPr sz="1400">
                <a:solidFill>
                  <a:srgbClr val="99A0AB"/>
                </a:solidFill>
                <a:latin typeface="Space Grotesk"/>
              </a:rPr>
              <a:t>Deuda / EBITDA — nivel de endeudamiento</a:t>
            </a:r>
          </a:p>
          <a:p>
            <a:pPr>
              <a:lnSpc>
                <a:spcPct val="155000"/>
              </a:lnSpc>
              <a:spcAft>
                <a:spcPts val="400"/>
              </a:spcAft>
            </a:pPr>
            <a:r>
              <a:rPr sz="1400" b="1">
                <a:solidFill>
                  <a:srgbClr val="C9A45C"/>
                </a:solidFill>
                <a:latin typeface="Space Grotesk"/>
              </a:rPr>
              <a:t>▪  </a:t>
            </a:r>
            <a:r>
              <a:rPr sz="1400">
                <a:solidFill>
                  <a:srgbClr val="99A0AB"/>
                </a:solidFill>
                <a:latin typeface="Space Grotesk"/>
              </a:rPr>
              <a:t>Crecimiento de ingresos (YoY)</a:t>
            </a:r>
          </a:p>
          <a:p>
            <a:pPr>
              <a:lnSpc>
                <a:spcPct val="155000"/>
              </a:lnSpc>
              <a:spcAft>
                <a:spcPts val="400"/>
              </a:spcAft>
            </a:pPr>
            <a:r>
              <a:rPr sz="1400" b="1">
                <a:solidFill>
                  <a:srgbClr val="C9A45C"/>
                </a:solidFill>
                <a:latin typeface="Space Grotesk"/>
              </a:rPr>
              <a:t>▪  </a:t>
            </a:r>
            <a:r>
              <a:rPr sz="1400">
                <a:solidFill>
                  <a:srgbClr val="99A0AB"/>
                </a:solidFill>
                <a:latin typeface="Space Grotesk"/>
              </a:rPr>
              <a:t>Sentimiento de informes/analistas (IA)</a:t>
            </a:r>
          </a:p>
        </p:txBody>
      </p:sp>
      <p:sp>
        <p:nvSpPr>
          <p:cNvPr id="13" name="TextBox 12"/>
          <p:cNvSpPr txBox="1"/>
          <p:nvPr/>
        </p:nvSpPr>
        <p:spPr>
          <a:xfrm>
            <a:off x="685800" y="6108192"/>
            <a:ext cx="10241280" cy="274320"/>
          </a:xfrm>
          <a:prstGeom prst="rect">
            <a:avLst/>
          </a:prstGeom>
          <a:noFill/>
        </p:spPr>
        <p:txBody>
          <a:bodyPr wrap="square" lIns="0" tIns="0" rIns="0" bIns="0" anchor="t">
            <a:spAutoFit/>
          </a:bodyPr>
          <a:lstStyle/>
          <a:p>
            <a:pPr algn="l">
              <a:lnSpc>
                <a:spcPct val="115000"/>
              </a:lnSpc>
            </a:pPr>
            <a:r>
              <a:rPr sz="1100" b="0" i="0">
                <a:solidFill>
                  <a:srgbClr val="5C6472"/>
                </a:solidFill>
                <a:latin typeface="JetBrains Mono"/>
              </a:rPr>
              <a:t>Semáforo accesible: color + glifo ( ▲ positivo · ● neutro · ▼ atención ) — no depende solo del color</a:t>
            </a:r>
          </a:p>
        </p:txBody>
      </p:sp>
      <p:sp>
        <p:nvSpPr>
          <p:cNvPr id="14" name="TextBox 13"/>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5" name="TextBox 14"/>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04 · MOTORES DE CÁLCULO</a:t>
            </a:r>
          </a:p>
        </p:txBody>
      </p:sp>
      <p:sp>
        <p:nvSpPr>
          <p:cNvPr id="16" name="TextBox 15"/>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14</a:t>
            </a:r>
          </a:p>
        </p:txBody>
      </p:sp>
      <p:sp>
        <p:nvSpPr>
          <p:cNvPr id="17" name="Rectangle 16"/>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04 · MOTORES DE CÁLCULO</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Niveles de precio y motor de alertas</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57400"/>
            <a:ext cx="10241280" cy="2926080"/>
          </a:xfrm>
          <a:prstGeom prst="rect">
            <a:avLst/>
          </a:prstGeom>
          <a:noFill/>
        </p:spPr>
        <p:txBody>
          <a:bodyPr wrap="square" lIns="0" tIns="0" rIns="0" bIns="0">
            <a:spAutoFit/>
          </a:bodyPr>
          <a:lstStyle/>
          <a:p>
            <a:pPr>
              <a:lnSpc>
                <a:spcPct val="160000"/>
              </a:lnSpc>
              <a:spcAft>
                <a:spcPts val="400"/>
              </a:spcAft>
            </a:pPr>
            <a:r>
              <a:rPr sz="1650" b="1">
                <a:solidFill>
                  <a:srgbClr val="C9A45C"/>
                </a:solidFill>
                <a:latin typeface="Space Grotesk"/>
              </a:rPr>
              <a:t>▪  </a:t>
            </a:r>
            <a:r>
              <a:rPr sz="1650">
                <a:solidFill>
                  <a:srgbClr val="99A0AB"/>
                </a:solidFill>
                <a:latin typeface="Space Grotesk"/>
              </a:rPr>
              <a:t>El usuario define un precio objetivo de compra y/o venta por cada activo</a:t>
            </a:r>
          </a:p>
          <a:p>
            <a:pPr>
              <a:lnSpc>
                <a:spcPct val="160000"/>
              </a:lnSpc>
              <a:spcAft>
                <a:spcPts val="400"/>
              </a:spcAft>
            </a:pPr>
            <a:r>
              <a:rPr sz="1650" b="1">
                <a:solidFill>
                  <a:srgbClr val="C9A45C"/>
                </a:solidFill>
                <a:latin typeface="Space Grotesk"/>
              </a:rPr>
              <a:t>▪  </a:t>
            </a:r>
            <a:r>
              <a:rPr sz="1650">
                <a:solidFill>
                  <a:srgbClr val="99A0AB"/>
                </a:solidFill>
                <a:latin typeface="Space Grotesk"/>
              </a:rPr>
              <a:t>El motor evalúa automáticamente los cruces cada vez que se actualiza el precio</a:t>
            </a:r>
          </a:p>
          <a:p>
            <a:pPr>
              <a:lnSpc>
                <a:spcPct val="160000"/>
              </a:lnSpc>
              <a:spcAft>
                <a:spcPts val="400"/>
              </a:spcAft>
            </a:pPr>
            <a:r>
              <a:rPr sz="1650" b="1">
                <a:solidFill>
                  <a:srgbClr val="C9A45C"/>
                </a:solidFill>
                <a:latin typeface="Space Grotesk"/>
              </a:rPr>
              <a:t>▪  </a:t>
            </a:r>
            <a:r>
              <a:rPr sz="1650">
                <a:solidFill>
                  <a:srgbClr val="99A0AB"/>
                </a:solidFill>
                <a:latin typeface="Space Grotesk"/>
              </a:rPr>
              <a:t>Historial inmutable: cada nivel definido queda guardado en el tiempo — nunca se sobrescribe</a:t>
            </a:r>
          </a:p>
          <a:p>
            <a:pPr>
              <a:lnSpc>
                <a:spcPct val="160000"/>
              </a:lnSpc>
              <a:spcAft>
                <a:spcPts val="400"/>
              </a:spcAft>
            </a:pPr>
            <a:r>
              <a:rPr sz="1650" b="1">
                <a:solidFill>
                  <a:srgbClr val="C9A45C"/>
                </a:solidFill>
                <a:latin typeface="Space Grotesk"/>
              </a:rPr>
              <a:t>▪  </a:t>
            </a:r>
            <a:r>
              <a:rPr sz="1650">
                <a:solidFill>
                  <a:srgbClr val="99A0AB"/>
                </a:solidFill>
                <a:latin typeface="Space Grotesk"/>
              </a:rPr>
              <a:t>Panel de alertas consolidado con todos los activos de la cartera que han tocado un nivel</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04 · MOTORES DE CÁLCULO</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15</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05</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Análisis de informes con Inteligencia Artificial</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De un PDF a señales financieras estructuradas</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05 · ANÁLISIS CON IA</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16</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05 · ANÁLISIS CON IA</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De un PDF a señales financieras estructuradas</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10241280" cy="2103120"/>
          </a:xfrm>
          <a:prstGeom prst="rect">
            <a:avLst/>
          </a:prstGeom>
          <a:noFill/>
        </p:spPr>
        <p:txBody>
          <a:bodyPr wrap="square" lIns="0" tIns="0" rIns="0" bIns="0">
            <a:spAutoFit/>
          </a:bodyPr>
          <a:lstStyle/>
          <a:p>
            <a:pPr>
              <a:lnSpc>
                <a:spcPct val="145000"/>
              </a:lnSpc>
              <a:spcAft>
                <a:spcPts val="400"/>
              </a:spcAft>
            </a:pPr>
            <a:r>
              <a:rPr sz="1550" b="1">
                <a:solidFill>
                  <a:srgbClr val="C9A45C"/>
                </a:solidFill>
                <a:latin typeface="Space Grotesk"/>
              </a:rPr>
              <a:t>▪  </a:t>
            </a:r>
            <a:r>
              <a:rPr sz="1550">
                <a:solidFill>
                  <a:srgbClr val="99A0AB"/>
                </a:solidFill>
                <a:latin typeface="Space Grotesk"/>
              </a:rPr>
              <a:t>El usuario sube un informe financiero en PDF y la IA extrae métricas y señales automáticamente</a:t>
            </a:r>
          </a:p>
          <a:p>
            <a:pPr>
              <a:lnSpc>
                <a:spcPct val="145000"/>
              </a:lnSpc>
              <a:spcAft>
                <a:spcPts val="400"/>
              </a:spcAft>
            </a:pPr>
            <a:r>
              <a:rPr sz="1550" b="1">
                <a:solidFill>
                  <a:srgbClr val="C9A45C"/>
                </a:solidFill>
                <a:latin typeface="Space Grotesk"/>
              </a:rPr>
              <a:t>▪  </a:t>
            </a:r>
            <a:r>
              <a:rPr sz="1550">
                <a:solidFill>
                  <a:srgbClr val="99A0AB"/>
                </a:solidFill>
                <a:latin typeface="Space Grotesk"/>
              </a:rPr>
              <a:t>3 proveedores intercambiables: Anthropic (Claude, por defecto), OpenAI y Gemini — configurables sin tocar código</a:t>
            </a:r>
          </a:p>
          <a:p>
            <a:pPr>
              <a:lnSpc>
                <a:spcPct val="145000"/>
              </a:lnSpc>
              <a:spcAft>
                <a:spcPts val="400"/>
              </a:spcAft>
            </a:pPr>
            <a:r>
              <a:rPr sz="1550" b="1">
                <a:solidFill>
                  <a:srgbClr val="C9A45C"/>
                </a:solidFill>
                <a:latin typeface="Space Grotesk"/>
              </a:rPr>
              <a:t>▪  </a:t>
            </a:r>
            <a:r>
              <a:rPr sz="1550">
                <a:solidFill>
                  <a:srgbClr val="99A0AB"/>
                </a:solidFill>
                <a:latin typeface="Space Grotesk"/>
              </a:rPr>
              <a:t>Procesamiento asíncrono (Celery + Redis) con reintentos automáticos: 3 intentos (60s / 300s / 900s)</a:t>
            </a:r>
          </a:p>
          <a:p>
            <a:pPr>
              <a:lnSpc>
                <a:spcPct val="145000"/>
              </a:lnSpc>
              <a:spcAft>
                <a:spcPts val="400"/>
              </a:spcAft>
            </a:pPr>
            <a:r>
              <a:rPr sz="1550" b="1">
                <a:solidFill>
                  <a:srgbClr val="C9A45C"/>
                </a:solidFill>
                <a:latin typeface="Space Grotesk"/>
              </a:rPr>
              <a:t>▪  </a:t>
            </a:r>
            <a:r>
              <a:rPr sz="1550">
                <a:solidFill>
                  <a:srgbClr val="99A0AB"/>
                </a:solidFill>
                <a:latin typeface="Space Grotesk"/>
              </a:rPr>
              <a:t>El resultado alimenta directamente el catálogo de indicadores fundamentales</a:t>
            </a:r>
          </a:p>
        </p:txBody>
      </p:sp>
      <p:sp>
        <p:nvSpPr>
          <p:cNvPr id="7" name="Rounded Rectangle 6"/>
          <p:cNvSpPr/>
          <p:nvPr/>
        </p:nvSpPr>
        <p:spPr>
          <a:xfrm>
            <a:off x="777240" y="4846320"/>
            <a:ext cx="10241280" cy="118872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4846320"/>
            <a:ext cx="54864" cy="118872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4983480"/>
            <a:ext cx="9692640" cy="274320"/>
          </a:xfrm>
          <a:prstGeom prst="rect">
            <a:avLst/>
          </a:prstGeom>
          <a:noFill/>
        </p:spPr>
        <p:txBody>
          <a:bodyPr wrap="square" lIns="0" tIns="0" rIns="0" bIns="0" anchor="t">
            <a:spAutoFit/>
          </a:bodyPr>
          <a:lstStyle/>
          <a:p>
            <a:pPr algn="l">
              <a:lnSpc>
                <a:spcPct val="115000"/>
              </a:lnSpc>
            </a:pPr>
            <a:r>
              <a:rPr sz="1100" b="1" i="0">
                <a:solidFill>
                  <a:srgbClr val="C9A45C"/>
                </a:solidFill>
                <a:latin typeface="JetBrains Mono"/>
              </a:rPr>
              <a:t>DISEÑO A PRUEBA DE FUTURO</a:t>
            </a:r>
          </a:p>
        </p:txBody>
      </p:sp>
      <p:sp>
        <p:nvSpPr>
          <p:cNvPr id="10" name="TextBox 9"/>
          <p:cNvSpPr txBox="1"/>
          <p:nvPr/>
        </p:nvSpPr>
        <p:spPr>
          <a:xfrm>
            <a:off x="1005840" y="5303520"/>
            <a:ext cx="9692640" cy="640080"/>
          </a:xfrm>
          <a:prstGeom prst="rect">
            <a:avLst/>
          </a:prstGeom>
          <a:noFill/>
        </p:spPr>
        <p:txBody>
          <a:bodyPr wrap="square" lIns="0" tIns="0" rIns="0" bIns="0" anchor="t">
            <a:spAutoFit/>
          </a:bodyPr>
          <a:lstStyle/>
          <a:p>
            <a:pPr algn="l">
              <a:lnSpc>
                <a:spcPct val="130000"/>
              </a:lnSpc>
            </a:pPr>
            <a:r>
              <a:rPr sz="1300" b="0" i="0">
                <a:solidFill>
                  <a:srgbClr val="99A0AB"/>
                </a:solidFill>
                <a:latin typeface="Space Grotesk"/>
              </a:rPr>
              <a:t>La interfaz común AIProvider desacopla la lógica de negocio del proveedor concreto de IA. Cambiar de modelo o añadir uno nuevo (o uno futuro) es una pieza de configuración, no una reescritura.</a:t>
            </a:r>
          </a:p>
        </p:txBody>
      </p:sp>
      <p:sp>
        <p:nvSpPr>
          <p:cNvPr id="11" name="TextBox 10"/>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2" name="TextBox 11"/>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05 · ANÁLISIS CON IA</a:t>
            </a:r>
          </a:p>
        </p:txBody>
      </p:sp>
      <p:sp>
        <p:nvSpPr>
          <p:cNvPr id="13" name="TextBox 12"/>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17</a:t>
            </a:r>
          </a:p>
        </p:txBody>
      </p:sp>
      <p:sp>
        <p:nvSpPr>
          <p:cNvPr id="14" name="Rectangle 13"/>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06</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Panel de Administración</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Roles, usuarios y control del hub de datos — sin tocar código</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06 · ADMINISTRACIÓN</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18</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06 · ADMINISTRACIÓN</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Roles y permisos: control de acceso granular (Spec D11)</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2011680"/>
            <a:ext cx="3063240" cy="11430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50392" y="2176272"/>
            <a:ext cx="365760" cy="365760"/>
          </a:xfrm>
          <a:prstGeom prst="ellipse">
            <a:avLst/>
          </a:prstGeom>
          <a:solidFill>
            <a:srgbClr val="2A2412"/>
          </a:solidFill>
          <a:ln w="12700">
            <a:solidFill>
              <a:srgbClr val="C9A45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C9A45C"/>
                </a:solidFill>
                <a:latin typeface="JetBrains Mono"/>
              </a:rPr>
              <a:t>①</a:t>
            </a:r>
          </a:p>
        </p:txBody>
      </p:sp>
      <p:sp>
        <p:nvSpPr>
          <p:cNvPr id="8" name="TextBox 7"/>
          <p:cNvSpPr txBox="1"/>
          <p:nvPr/>
        </p:nvSpPr>
        <p:spPr>
          <a:xfrm>
            <a:off x="1325880" y="2194560"/>
            <a:ext cx="2240280" cy="320040"/>
          </a:xfrm>
          <a:prstGeom prst="rect">
            <a:avLst/>
          </a:prstGeom>
          <a:noFill/>
        </p:spPr>
        <p:txBody>
          <a:bodyPr wrap="square" lIns="0" tIns="0" rIns="0" bIns="0" anchor="t">
            <a:spAutoFit/>
          </a:bodyPr>
          <a:lstStyle/>
          <a:p>
            <a:pPr algn="l">
              <a:lnSpc>
                <a:spcPct val="115000"/>
              </a:lnSpc>
            </a:pPr>
            <a:r>
              <a:rPr sz="1450" b="1" i="0">
                <a:solidFill>
                  <a:srgbClr val="E7E9ED"/>
                </a:solidFill>
                <a:latin typeface="Space Grotesk"/>
              </a:rPr>
              <a:t>Permiso</a:t>
            </a:r>
          </a:p>
        </p:txBody>
      </p:sp>
      <p:sp>
        <p:nvSpPr>
          <p:cNvPr id="9" name="TextBox 8"/>
          <p:cNvSpPr txBox="1"/>
          <p:nvPr/>
        </p:nvSpPr>
        <p:spPr>
          <a:xfrm>
            <a:off x="941832" y="2670048"/>
            <a:ext cx="2560320" cy="411480"/>
          </a:xfrm>
          <a:prstGeom prst="rect">
            <a:avLst/>
          </a:prstGeom>
          <a:noFill/>
        </p:spPr>
        <p:txBody>
          <a:bodyPr wrap="square" lIns="0" tIns="0" rIns="0" bIns="0" anchor="t">
            <a:spAutoFit/>
          </a:bodyPr>
          <a:lstStyle/>
          <a:p>
            <a:pPr algn="l">
              <a:lnSpc>
                <a:spcPct val="130000"/>
              </a:lnSpc>
            </a:pPr>
            <a:r>
              <a:rPr sz="1050" b="0" i="0">
                <a:solidFill>
                  <a:srgbClr val="99A0AB"/>
                </a:solidFill>
                <a:latin typeface="JetBrains Mono"/>
              </a:rPr>
              <a:t>Átomo de autorización</a:t>
            </a:r>
          </a:p>
          <a:p>
            <a:pPr algn="l">
              <a:lnSpc>
                <a:spcPct val="130000"/>
              </a:lnSpc>
            </a:pPr>
            <a:r>
              <a:rPr sz="1050" b="0" i="0">
                <a:solidFill>
                  <a:srgbClr val="99A0AB"/>
                </a:solidFill>
                <a:latin typeface="JetBrains Mono"/>
              </a:rPr>
              <a:t>~30 códigos: portfolio.create,</a:t>
            </a:r>
          </a:p>
          <a:p>
            <a:pPr algn="l">
              <a:lnSpc>
                <a:spcPct val="130000"/>
              </a:lnSpc>
            </a:pPr>
            <a:r>
              <a:rPr sz="1050" b="0" i="0">
                <a:solidFill>
                  <a:srgbClr val="99A0AB"/>
                </a:solidFill>
                <a:latin typeface="JetBrains Mono"/>
              </a:rPr>
              <a:t>user.list, role.assign…</a:t>
            </a:r>
          </a:p>
        </p:txBody>
      </p:sp>
      <p:sp>
        <p:nvSpPr>
          <p:cNvPr id="10" name="TextBox 9"/>
          <p:cNvSpPr txBox="1"/>
          <p:nvPr/>
        </p:nvSpPr>
        <p:spPr>
          <a:xfrm>
            <a:off x="3749040" y="2011680"/>
            <a:ext cx="384048" cy="1143000"/>
          </a:xfrm>
          <a:prstGeom prst="rect">
            <a:avLst/>
          </a:prstGeom>
          <a:noFill/>
        </p:spPr>
        <p:txBody>
          <a:bodyPr wrap="square" lIns="0" tIns="0" rIns="0" bIns="0" anchor="ctr">
            <a:spAutoFit/>
          </a:bodyPr>
          <a:lstStyle/>
          <a:p>
            <a:pPr algn="ctr">
              <a:lnSpc>
                <a:spcPct val="115000"/>
              </a:lnSpc>
            </a:pPr>
            <a:r>
              <a:rPr sz="2200" b="1" i="0">
                <a:solidFill>
                  <a:srgbClr val="C9A45C"/>
                </a:solidFill>
                <a:latin typeface="JetBrains Mono"/>
              </a:rPr>
              <a:t>→</a:t>
            </a:r>
          </a:p>
        </p:txBody>
      </p:sp>
      <p:sp>
        <p:nvSpPr>
          <p:cNvPr id="11" name="Rounded Rectangle 10"/>
          <p:cNvSpPr/>
          <p:nvPr/>
        </p:nvSpPr>
        <p:spPr>
          <a:xfrm>
            <a:off x="4133088" y="2011680"/>
            <a:ext cx="3063240" cy="11430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297680" y="2176272"/>
            <a:ext cx="365760" cy="365760"/>
          </a:xfrm>
          <a:prstGeom prst="ellipse">
            <a:avLst/>
          </a:prstGeom>
          <a:solidFill>
            <a:srgbClr val="2A2412"/>
          </a:solidFill>
          <a:ln w="12700">
            <a:solidFill>
              <a:srgbClr val="C9A45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C9A45C"/>
                </a:solidFill>
                <a:latin typeface="JetBrains Mono"/>
              </a:rPr>
              <a:t>②</a:t>
            </a:r>
          </a:p>
        </p:txBody>
      </p:sp>
      <p:sp>
        <p:nvSpPr>
          <p:cNvPr id="13" name="TextBox 12"/>
          <p:cNvSpPr txBox="1"/>
          <p:nvPr/>
        </p:nvSpPr>
        <p:spPr>
          <a:xfrm>
            <a:off x="4773168" y="2194560"/>
            <a:ext cx="2240280" cy="320040"/>
          </a:xfrm>
          <a:prstGeom prst="rect">
            <a:avLst/>
          </a:prstGeom>
          <a:noFill/>
        </p:spPr>
        <p:txBody>
          <a:bodyPr wrap="square" lIns="0" tIns="0" rIns="0" bIns="0" anchor="t">
            <a:spAutoFit/>
          </a:bodyPr>
          <a:lstStyle/>
          <a:p>
            <a:pPr algn="l">
              <a:lnSpc>
                <a:spcPct val="115000"/>
              </a:lnSpc>
            </a:pPr>
            <a:r>
              <a:rPr sz="1450" b="1" i="0">
                <a:solidFill>
                  <a:srgbClr val="E7E9ED"/>
                </a:solidFill>
                <a:latin typeface="Space Grotesk"/>
              </a:rPr>
              <a:t>Rol</a:t>
            </a:r>
          </a:p>
        </p:txBody>
      </p:sp>
      <p:sp>
        <p:nvSpPr>
          <p:cNvPr id="14" name="TextBox 13"/>
          <p:cNvSpPr txBox="1"/>
          <p:nvPr/>
        </p:nvSpPr>
        <p:spPr>
          <a:xfrm>
            <a:off x="4389120" y="2670048"/>
            <a:ext cx="2560320" cy="411480"/>
          </a:xfrm>
          <a:prstGeom prst="rect">
            <a:avLst/>
          </a:prstGeom>
          <a:noFill/>
        </p:spPr>
        <p:txBody>
          <a:bodyPr wrap="square" lIns="0" tIns="0" rIns="0" bIns="0" anchor="t">
            <a:spAutoFit/>
          </a:bodyPr>
          <a:lstStyle/>
          <a:p>
            <a:pPr algn="l">
              <a:lnSpc>
                <a:spcPct val="130000"/>
              </a:lnSpc>
            </a:pPr>
            <a:r>
              <a:rPr sz="1050" b="0" i="0">
                <a:solidFill>
                  <a:srgbClr val="99A0AB"/>
                </a:solidFill>
                <a:latin typeface="JetBrains Mono"/>
              </a:rPr>
              <a:t>Paquete de permisos</a:t>
            </a:r>
          </a:p>
          <a:p>
            <a:pPr algn="l">
              <a:lnSpc>
                <a:spcPct val="130000"/>
              </a:lnSpc>
            </a:pPr>
            <a:r>
              <a:rPr sz="1050" b="0" i="0">
                <a:solidFill>
                  <a:srgbClr val="99A0AB"/>
                </a:solidFill>
                <a:latin typeface="JetBrains Mono"/>
              </a:rPr>
              <a:t>Administrador · Inversor</a:t>
            </a:r>
          </a:p>
        </p:txBody>
      </p:sp>
      <p:sp>
        <p:nvSpPr>
          <p:cNvPr id="15" name="TextBox 14"/>
          <p:cNvSpPr txBox="1"/>
          <p:nvPr/>
        </p:nvSpPr>
        <p:spPr>
          <a:xfrm>
            <a:off x="7196328" y="2011680"/>
            <a:ext cx="384048" cy="1143000"/>
          </a:xfrm>
          <a:prstGeom prst="rect">
            <a:avLst/>
          </a:prstGeom>
          <a:noFill/>
        </p:spPr>
        <p:txBody>
          <a:bodyPr wrap="square" lIns="0" tIns="0" rIns="0" bIns="0" anchor="ctr">
            <a:spAutoFit/>
          </a:bodyPr>
          <a:lstStyle/>
          <a:p>
            <a:pPr algn="ctr">
              <a:lnSpc>
                <a:spcPct val="115000"/>
              </a:lnSpc>
            </a:pPr>
            <a:r>
              <a:rPr sz="2200" b="1" i="0">
                <a:solidFill>
                  <a:srgbClr val="C9A45C"/>
                </a:solidFill>
                <a:latin typeface="JetBrains Mono"/>
              </a:rPr>
              <a:t>→</a:t>
            </a:r>
          </a:p>
        </p:txBody>
      </p:sp>
      <p:sp>
        <p:nvSpPr>
          <p:cNvPr id="16" name="Rounded Rectangle 15"/>
          <p:cNvSpPr/>
          <p:nvPr/>
        </p:nvSpPr>
        <p:spPr>
          <a:xfrm>
            <a:off x="7580376" y="2011680"/>
            <a:ext cx="3063240" cy="114300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44968" y="2176272"/>
            <a:ext cx="365760" cy="365760"/>
          </a:xfrm>
          <a:prstGeom prst="ellipse">
            <a:avLst/>
          </a:prstGeom>
          <a:solidFill>
            <a:srgbClr val="2A2412"/>
          </a:solidFill>
          <a:ln w="12700">
            <a:solidFill>
              <a:srgbClr val="C9A45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C9A45C"/>
                </a:solidFill>
                <a:latin typeface="JetBrains Mono"/>
              </a:rPr>
              <a:t>③</a:t>
            </a:r>
          </a:p>
        </p:txBody>
      </p:sp>
      <p:sp>
        <p:nvSpPr>
          <p:cNvPr id="18" name="TextBox 17"/>
          <p:cNvSpPr txBox="1"/>
          <p:nvPr/>
        </p:nvSpPr>
        <p:spPr>
          <a:xfrm>
            <a:off x="8220456" y="2194560"/>
            <a:ext cx="2240280" cy="320040"/>
          </a:xfrm>
          <a:prstGeom prst="rect">
            <a:avLst/>
          </a:prstGeom>
          <a:noFill/>
        </p:spPr>
        <p:txBody>
          <a:bodyPr wrap="square" lIns="0" tIns="0" rIns="0" bIns="0" anchor="t">
            <a:spAutoFit/>
          </a:bodyPr>
          <a:lstStyle/>
          <a:p>
            <a:pPr algn="l">
              <a:lnSpc>
                <a:spcPct val="115000"/>
              </a:lnSpc>
            </a:pPr>
            <a:r>
              <a:rPr sz="1450" b="1" i="0">
                <a:solidFill>
                  <a:srgbClr val="E7E9ED"/>
                </a:solidFill>
                <a:latin typeface="Space Grotesk"/>
              </a:rPr>
              <a:t>Usuario</a:t>
            </a:r>
          </a:p>
        </p:txBody>
      </p:sp>
      <p:sp>
        <p:nvSpPr>
          <p:cNvPr id="19" name="TextBox 18"/>
          <p:cNvSpPr txBox="1"/>
          <p:nvPr/>
        </p:nvSpPr>
        <p:spPr>
          <a:xfrm>
            <a:off x="7836408" y="2670048"/>
            <a:ext cx="2560320" cy="411480"/>
          </a:xfrm>
          <a:prstGeom prst="rect">
            <a:avLst/>
          </a:prstGeom>
          <a:noFill/>
        </p:spPr>
        <p:txBody>
          <a:bodyPr wrap="square" lIns="0" tIns="0" rIns="0" bIns="0" anchor="t">
            <a:spAutoFit/>
          </a:bodyPr>
          <a:lstStyle/>
          <a:p>
            <a:pPr algn="l">
              <a:lnSpc>
                <a:spcPct val="130000"/>
              </a:lnSpc>
            </a:pPr>
            <a:r>
              <a:rPr sz="1050" b="0" i="0">
                <a:solidFill>
                  <a:srgbClr val="99A0AB"/>
                </a:solidFill>
                <a:latin typeface="JetBrains Mono"/>
              </a:rPr>
              <a:t>Uno o varios roles</a:t>
            </a:r>
          </a:p>
          <a:p>
            <a:pPr algn="l">
              <a:lnSpc>
                <a:spcPct val="130000"/>
              </a:lnSpc>
            </a:pPr>
            <a:r>
              <a:rPr sz="1050" b="0" i="0">
                <a:solidFill>
                  <a:srgbClr val="99A0AB"/>
                </a:solidFill>
                <a:latin typeface="JetBrains Mono"/>
              </a:rPr>
              <a:t>Permisos efectivos = unión</a:t>
            </a:r>
          </a:p>
        </p:txBody>
      </p:sp>
      <p:sp>
        <p:nvSpPr>
          <p:cNvPr id="20" name="Rounded Rectangle 19"/>
          <p:cNvSpPr/>
          <p:nvPr/>
        </p:nvSpPr>
        <p:spPr>
          <a:xfrm>
            <a:off x="685800" y="3611880"/>
            <a:ext cx="5074920" cy="123444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3758184"/>
            <a:ext cx="4572000" cy="274320"/>
          </a:xfrm>
          <a:prstGeom prst="rect">
            <a:avLst/>
          </a:prstGeom>
          <a:noFill/>
        </p:spPr>
        <p:txBody>
          <a:bodyPr wrap="square" lIns="0" tIns="0" rIns="0" bIns="0" anchor="t">
            <a:spAutoFit/>
          </a:bodyPr>
          <a:lstStyle/>
          <a:p>
            <a:pPr algn="l">
              <a:lnSpc>
                <a:spcPct val="115000"/>
              </a:lnSpc>
            </a:pPr>
            <a:r>
              <a:rPr sz="1250" b="1" i="0">
                <a:solidFill>
                  <a:srgbClr val="C9A45C"/>
                </a:solidFill>
                <a:latin typeface="JetBrains Mono"/>
              </a:rPr>
              <a:t>ADMINISTRADOR</a:t>
            </a:r>
          </a:p>
        </p:txBody>
      </p:sp>
      <p:sp>
        <p:nvSpPr>
          <p:cNvPr id="22" name="TextBox 21"/>
          <p:cNvSpPr txBox="1"/>
          <p:nvPr/>
        </p:nvSpPr>
        <p:spPr>
          <a:xfrm>
            <a:off x="914400" y="4114800"/>
            <a:ext cx="4572000" cy="640080"/>
          </a:xfrm>
          <a:prstGeom prst="rect">
            <a:avLst/>
          </a:prstGeom>
          <a:noFill/>
        </p:spPr>
        <p:txBody>
          <a:bodyPr wrap="square" lIns="0" tIns="0" rIns="0" bIns="0" anchor="t">
            <a:spAutoFit/>
          </a:bodyPr>
          <a:lstStyle/>
          <a:p>
            <a:pPr algn="l">
              <a:lnSpc>
                <a:spcPct val="130000"/>
              </a:lnSpc>
            </a:pPr>
            <a:r>
              <a:rPr sz="1250" b="0" i="0">
                <a:solidFill>
                  <a:srgbClr val="99A0AB"/>
                </a:solidFill>
                <a:latin typeface="Space Grotesk"/>
              </a:rPr>
              <a:t>Acceso total: gestión de usuarios, roles,</a:t>
            </a:r>
          </a:p>
          <a:p>
            <a:pPr algn="l">
              <a:lnSpc>
                <a:spcPct val="130000"/>
              </a:lnSpc>
            </a:pPr>
            <a:r>
              <a:rPr sz="1250" b="0" i="0">
                <a:solidFill>
                  <a:srgbClr val="99A0AB"/>
                </a:solidFill>
                <a:latin typeface="Space Grotesk"/>
              </a:rPr>
              <a:t>configuración global y proveedores de datos</a:t>
            </a:r>
          </a:p>
        </p:txBody>
      </p:sp>
      <p:sp>
        <p:nvSpPr>
          <p:cNvPr id="23" name="Rounded Rectangle 22"/>
          <p:cNvSpPr/>
          <p:nvPr/>
        </p:nvSpPr>
        <p:spPr>
          <a:xfrm>
            <a:off x="6035040" y="3611880"/>
            <a:ext cx="5074920" cy="123444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3758184"/>
            <a:ext cx="4572000" cy="274320"/>
          </a:xfrm>
          <a:prstGeom prst="rect">
            <a:avLst/>
          </a:prstGeom>
          <a:noFill/>
        </p:spPr>
        <p:txBody>
          <a:bodyPr wrap="square" lIns="0" tIns="0" rIns="0" bIns="0" anchor="t">
            <a:spAutoFit/>
          </a:bodyPr>
          <a:lstStyle/>
          <a:p>
            <a:pPr algn="l">
              <a:lnSpc>
                <a:spcPct val="115000"/>
              </a:lnSpc>
            </a:pPr>
            <a:r>
              <a:rPr sz="1250" b="1" i="0">
                <a:solidFill>
                  <a:srgbClr val="4FBF87"/>
                </a:solidFill>
                <a:latin typeface="JetBrains Mono"/>
              </a:rPr>
              <a:t>INVERSOR (rol por defecto)</a:t>
            </a:r>
          </a:p>
        </p:txBody>
      </p:sp>
      <p:sp>
        <p:nvSpPr>
          <p:cNvPr id="25" name="TextBox 24"/>
          <p:cNvSpPr txBox="1"/>
          <p:nvPr/>
        </p:nvSpPr>
        <p:spPr>
          <a:xfrm>
            <a:off x="6263640" y="4114800"/>
            <a:ext cx="4572000" cy="640080"/>
          </a:xfrm>
          <a:prstGeom prst="rect">
            <a:avLst/>
          </a:prstGeom>
          <a:noFill/>
        </p:spPr>
        <p:txBody>
          <a:bodyPr wrap="square" lIns="0" tIns="0" rIns="0" bIns="0" anchor="t">
            <a:spAutoFit/>
          </a:bodyPr>
          <a:lstStyle/>
          <a:p>
            <a:pPr algn="l">
              <a:lnSpc>
                <a:spcPct val="130000"/>
              </a:lnSpc>
            </a:pPr>
            <a:r>
              <a:rPr sz="1250" b="0" i="0">
                <a:solidFill>
                  <a:srgbClr val="99A0AB"/>
                </a:solidFill>
                <a:latin typeface="Space Grotesk"/>
              </a:rPr>
              <a:t>Gestiona sus propias carteras, activos,</a:t>
            </a:r>
          </a:p>
          <a:p>
            <a:pPr algn="l">
              <a:lnSpc>
                <a:spcPct val="130000"/>
              </a:lnSpc>
            </a:pPr>
            <a:r>
              <a:rPr sz="1250" b="0" i="0">
                <a:solidFill>
                  <a:srgbClr val="99A0AB"/>
                </a:solidFill>
                <a:latin typeface="Space Grotesk"/>
              </a:rPr>
              <a:t>niveles de precio y análisis — nunca datos ajenos</a:t>
            </a:r>
          </a:p>
        </p:txBody>
      </p:sp>
      <p:sp>
        <p:nvSpPr>
          <p:cNvPr id="26" name="TextBox 25"/>
          <p:cNvSpPr txBox="1"/>
          <p:nvPr/>
        </p:nvSpPr>
        <p:spPr>
          <a:xfrm>
            <a:off x="685800" y="5029200"/>
            <a:ext cx="10241280" cy="914400"/>
          </a:xfrm>
          <a:prstGeom prst="rect">
            <a:avLst/>
          </a:prstGeom>
          <a:noFill/>
        </p:spPr>
        <p:txBody>
          <a:bodyPr wrap="square" lIns="0" tIns="0" rIns="0" bIns="0">
            <a:spAutoFit/>
          </a:bodyPr>
          <a:lstStyle/>
          <a:p>
            <a:pPr>
              <a:lnSpc>
                <a:spcPct val="130000"/>
              </a:lnSpc>
              <a:spcAft>
                <a:spcPts val="400"/>
              </a:spcAft>
            </a:pPr>
            <a:r>
              <a:rPr sz="1250" b="1">
                <a:solidFill>
                  <a:srgbClr val="C9A45C"/>
                </a:solidFill>
                <a:latin typeface="Space Grotesk"/>
              </a:rPr>
              <a:t>▪  </a:t>
            </a:r>
            <a:r>
              <a:rPr sz="1250">
                <a:solidFill>
                  <a:srgbClr val="99A0AB"/>
                </a:solidFill>
                <a:latin typeface="Space Grotesk"/>
              </a:rPr>
              <a:t>Cobertura uniforme: cada endpoint del backend exige exactamente un permiso — cero operaciones desprotegidas</a:t>
            </a:r>
          </a:p>
          <a:p>
            <a:pPr>
              <a:lnSpc>
                <a:spcPct val="130000"/>
              </a:lnSpc>
              <a:spcAft>
                <a:spcPts val="400"/>
              </a:spcAft>
            </a:pPr>
            <a:r>
              <a:rPr sz="1250" b="1">
                <a:solidFill>
                  <a:srgbClr val="C9A45C"/>
                </a:solidFill>
                <a:latin typeface="Space Grotesk"/>
              </a:rPr>
              <a:t>▪  </a:t>
            </a:r>
            <a:r>
              <a:rPr sz="1250">
                <a:solidFill>
                  <a:srgbClr val="99A0AB"/>
                </a:solidFill>
                <a:latin typeface="Space Grotesk"/>
              </a:rPr>
              <a:t>Catálogo versionado (roles_catalog.yaml): añadir un rol o permiso es un cambio de datos, no de código</a:t>
            </a:r>
          </a:p>
        </p:txBody>
      </p:sp>
      <p:sp>
        <p:nvSpPr>
          <p:cNvPr id="27" name="TextBox 2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28" name="TextBox 2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06 · ADMINISTRACIÓN</a:t>
            </a:r>
          </a:p>
        </p:txBody>
      </p:sp>
      <p:sp>
        <p:nvSpPr>
          <p:cNvPr id="29" name="TextBox 2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19</a:t>
            </a:r>
          </a:p>
        </p:txBody>
      </p:sp>
      <p:sp>
        <p:nvSpPr>
          <p:cNvPr id="30" name="Rectangle 2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06 · ADMINISTRACIÓN</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Gestión de usuarios y accesos</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10241280" cy="2926080"/>
          </a:xfrm>
          <a:prstGeom prst="rect">
            <a:avLst/>
          </a:prstGeom>
          <a:noFill/>
        </p:spPr>
        <p:txBody>
          <a:bodyPr wrap="square" lIns="0" tIns="0" rIns="0" bIns="0">
            <a:spAutoFit/>
          </a:bodyPr>
          <a:lstStyle/>
          <a:p>
            <a:pPr>
              <a:lnSpc>
                <a:spcPct val="150000"/>
              </a:lnSpc>
              <a:spcAft>
                <a:spcPts val="400"/>
              </a:spcAft>
            </a:pPr>
            <a:r>
              <a:rPr sz="1550" b="1">
                <a:solidFill>
                  <a:srgbClr val="C9A45C"/>
                </a:solidFill>
                <a:latin typeface="Space Grotesk"/>
              </a:rPr>
              <a:t>▪  </a:t>
            </a:r>
            <a:r>
              <a:rPr sz="1550">
                <a:solidFill>
                  <a:srgbClr val="99A0AB"/>
                </a:solidFill>
                <a:latin typeface="Space Grotesk"/>
              </a:rPr>
              <a:t>Listado paginado de usuarios: email, método de acceso, roles asignados, estado</a:t>
            </a:r>
          </a:p>
          <a:p>
            <a:pPr>
              <a:lnSpc>
                <a:spcPct val="150000"/>
              </a:lnSpc>
              <a:spcAft>
                <a:spcPts val="400"/>
              </a:spcAft>
            </a:pPr>
            <a:r>
              <a:rPr sz="1550" b="1">
                <a:solidFill>
                  <a:srgbClr val="C9A45C"/>
                </a:solidFill>
                <a:latin typeface="Space Grotesk"/>
              </a:rPr>
              <a:t>▪  </a:t>
            </a:r>
            <a:r>
              <a:rPr sz="1550">
                <a:solidFill>
                  <a:srgbClr val="99A0AB"/>
                </a:solidFill>
                <a:latin typeface="Space Grotesk"/>
              </a:rPr>
              <a:t>Asignar o revocar roles con protección incorporada: el sistema nunca se queda sin administrador</a:t>
            </a:r>
          </a:p>
          <a:p>
            <a:pPr>
              <a:lnSpc>
                <a:spcPct val="150000"/>
              </a:lnSpc>
              <a:spcAft>
                <a:spcPts val="400"/>
              </a:spcAft>
            </a:pPr>
            <a:r>
              <a:rPr sz="1550" b="1">
                <a:solidFill>
                  <a:srgbClr val="C9A45C"/>
                </a:solidFill>
                <a:latin typeface="Space Grotesk"/>
              </a:rPr>
              <a:t>▪  </a:t>
            </a:r>
            <a:r>
              <a:rPr sz="1550">
                <a:solidFill>
                  <a:srgbClr val="99A0AB"/>
                </a:solidFill>
                <a:latin typeface="Space Grotesk"/>
              </a:rPr>
              <a:t>Un administrador puede resetear la contraseña de otro usuario (contraseña temporal, cambio obligatorio en el siguiente login)</a:t>
            </a:r>
          </a:p>
          <a:p>
            <a:pPr>
              <a:lnSpc>
                <a:spcPct val="150000"/>
              </a:lnSpc>
              <a:spcAft>
                <a:spcPts val="400"/>
              </a:spcAft>
            </a:pPr>
            <a:r>
              <a:rPr sz="1550" b="1">
                <a:solidFill>
                  <a:srgbClr val="C9A45C"/>
                </a:solidFill>
                <a:latin typeface="Space Grotesk"/>
              </a:rPr>
              <a:t>▪  </a:t>
            </a:r>
            <a:r>
              <a:rPr sz="1550">
                <a:solidFill>
                  <a:srgbClr val="99A0AB"/>
                </a:solidFill>
                <a:latin typeface="Space Grotesk"/>
              </a:rPr>
              <a:t>Arranque inicial: se crea automáticamente un administrador con contraseña aleatoria segura, mostrada una única vez en el log</a:t>
            </a:r>
          </a:p>
        </p:txBody>
      </p:sp>
      <p:sp>
        <p:nvSpPr>
          <p:cNvPr id="7" name="Rounded Rectangle 6"/>
          <p:cNvSpPr/>
          <p:nvPr/>
        </p:nvSpPr>
        <p:spPr>
          <a:xfrm>
            <a:off x="777240" y="5074920"/>
            <a:ext cx="10241280" cy="86868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5074920"/>
            <a:ext cx="54864" cy="86868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5230368"/>
            <a:ext cx="9692640" cy="548640"/>
          </a:xfrm>
          <a:prstGeom prst="rect">
            <a:avLst/>
          </a:prstGeom>
          <a:noFill/>
        </p:spPr>
        <p:txBody>
          <a:bodyPr wrap="square" lIns="0" tIns="0" rIns="0" bIns="0" anchor="t">
            <a:spAutoFit/>
          </a:bodyPr>
          <a:lstStyle/>
          <a:p>
            <a:pPr algn="l">
              <a:lnSpc>
                <a:spcPct val="130000"/>
              </a:lnSpc>
            </a:pPr>
            <a:r>
              <a:rPr sz="1250" b="0" i="1">
                <a:solidFill>
                  <a:srgbClr val="E7E9ED"/>
                </a:solidFill>
                <a:latin typeface="Space Grotesk"/>
              </a:rPr>
              <a:t>Garantía “siempre un administrador”: revocar el último rol de administrador se rechaza explícitamente (HTTP 409) — el sistema nunca queda sin autoridad de gestión.</a:t>
            </a:r>
          </a:p>
        </p:txBody>
      </p:sp>
      <p:sp>
        <p:nvSpPr>
          <p:cNvPr id="10" name="TextBox 9"/>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1" name="TextBox 10"/>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06 · ADMINISTRACIÓN</a:t>
            </a:r>
          </a:p>
        </p:txBody>
      </p:sp>
      <p:sp>
        <p:nvSpPr>
          <p:cNvPr id="12" name="TextBox 11"/>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20</a:t>
            </a:r>
          </a:p>
        </p:txBody>
      </p:sp>
      <p:sp>
        <p:nvSpPr>
          <p:cNvPr id="13" name="Rectangle 12"/>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06 · ADMINISTRACIÓN</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Control del hub de datos desde Configuración</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10241280" cy="2926080"/>
          </a:xfrm>
          <a:prstGeom prst="rect">
            <a:avLst/>
          </a:prstGeom>
          <a:noFill/>
        </p:spPr>
        <p:txBody>
          <a:bodyPr wrap="square" lIns="0" tIns="0" rIns="0" bIns="0">
            <a:spAutoFit/>
          </a:bodyPr>
          <a:lstStyle/>
          <a:p>
            <a:pPr>
              <a:lnSpc>
                <a:spcPct val="150000"/>
              </a:lnSpc>
              <a:spcAft>
                <a:spcPts val="400"/>
              </a:spcAft>
            </a:pPr>
            <a:r>
              <a:rPr sz="1550" b="1">
                <a:solidFill>
                  <a:srgbClr val="C9A45C"/>
                </a:solidFill>
                <a:latin typeface="Space Grotesk"/>
              </a:rPr>
              <a:t>▪  </a:t>
            </a:r>
            <a:r>
              <a:rPr sz="1550">
                <a:solidFill>
                  <a:srgbClr val="99A0AB"/>
                </a:solidFill>
                <a:latin typeface="Space Grotesk"/>
              </a:rPr>
              <a:t>Sección “Data providers” en Configuración, visible únicamente para administradores</a:t>
            </a:r>
          </a:p>
          <a:p>
            <a:pPr>
              <a:lnSpc>
                <a:spcPct val="150000"/>
              </a:lnSpc>
              <a:spcAft>
                <a:spcPts val="400"/>
              </a:spcAft>
            </a:pPr>
            <a:r>
              <a:rPr sz="1550" b="1">
                <a:solidFill>
                  <a:srgbClr val="C9A45C"/>
                </a:solidFill>
                <a:latin typeface="Space Grotesk"/>
              </a:rPr>
              <a:t>▪  </a:t>
            </a:r>
            <a:r>
              <a:rPr sz="1550">
                <a:solidFill>
                  <a:srgbClr val="99A0AB"/>
                </a:solidFill>
                <a:latin typeface="Space Grotesk"/>
              </a:rPr>
              <a:t>Reordenar o quitar proveedores de la cascada de mercado y FX por arrastre (drag-and-drop)</a:t>
            </a:r>
          </a:p>
          <a:p>
            <a:pPr>
              <a:lnSpc>
                <a:spcPct val="150000"/>
              </a:lnSpc>
              <a:spcAft>
                <a:spcPts val="400"/>
              </a:spcAft>
            </a:pPr>
            <a:r>
              <a:rPr sz="1550" b="1">
                <a:solidFill>
                  <a:srgbClr val="C9A45C"/>
                </a:solidFill>
                <a:latin typeface="Space Grotesk"/>
              </a:rPr>
              <a:t>▪  </a:t>
            </a:r>
            <a:r>
              <a:rPr sz="1550">
                <a:solidFill>
                  <a:srgbClr val="99A0AB"/>
                </a:solidFill>
                <a:latin typeface="Space Grotesk"/>
              </a:rPr>
              <a:t>Claves de API gestionadas por variables de entorno, siempre mostradas enmascaradas en la interfaz</a:t>
            </a:r>
          </a:p>
          <a:p>
            <a:pPr>
              <a:lnSpc>
                <a:spcPct val="150000"/>
              </a:lnSpc>
              <a:spcAft>
                <a:spcPts val="400"/>
              </a:spcAft>
            </a:pPr>
            <a:r>
              <a:rPr sz="1550" b="1">
                <a:solidFill>
                  <a:srgbClr val="C9A45C"/>
                </a:solidFill>
                <a:latin typeface="Space Grotesk"/>
              </a:rPr>
              <a:t>▪  </a:t>
            </a:r>
            <a:r>
              <a:rPr sz="1550">
                <a:solidFill>
                  <a:srgbClr val="99A0AB"/>
                </a:solidFill>
                <a:latin typeface="Space Grotesk"/>
              </a:rPr>
              <a:t>Acceso directo al histórico de fallos de cascada de los últimos 30 días, filtrable por fecha, proveedor y motivo</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06 · ADMINISTRACIÓN</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21</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07</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Seguridad y metodología</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Cómo se protege el sistema y cómo se construyó</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07 · SEGURIDAD</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22</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07 · SEGURIDAD Y METODOLOGÍA</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Seguridad por diseño</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57400"/>
            <a:ext cx="10241280" cy="3108960"/>
          </a:xfrm>
          <a:prstGeom prst="rect">
            <a:avLst/>
          </a:prstGeom>
          <a:noFill/>
        </p:spPr>
        <p:txBody>
          <a:bodyPr wrap="square" lIns="0" tIns="0" rIns="0" bIns="0">
            <a:spAutoFit/>
          </a:bodyPr>
          <a:lstStyle/>
          <a:p>
            <a:pPr>
              <a:lnSpc>
                <a:spcPct val="155000"/>
              </a:lnSpc>
              <a:spcAft>
                <a:spcPts val="400"/>
              </a:spcAft>
            </a:pPr>
            <a:r>
              <a:rPr sz="1600" b="1">
                <a:solidFill>
                  <a:srgbClr val="C9A45C"/>
                </a:solidFill>
                <a:latin typeface="Space Grotesk"/>
              </a:rPr>
              <a:t>▪  </a:t>
            </a:r>
            <a:r>
              <a:rPr sz="1600">
                <a:solidFill>
                  <a:srgbClr val="99A0AB"/>
                </a:solidFill>
                <a:latin typeface="Space Grotesk"/>
              </a:rPr>
              <a:t>Autenticación JWT en cookie httpOnly + token de refresco — no accesible desde JavaScript</a:t>
            </a:r>
          </a:p>
          <a:p>
            <a:pPr>
              <a:lnSpc>
                <a:spcPct val="155000"/>
              </a:lnSpc>
              <a:spcAft>
                <a:spcPts val="400"/>
              </a:spcAft>
            </a:pPr>
            <a:r>
              <a:rPr sz="1600" b="1">
                <a:solidFill>
                  <a:srgbClr val="C9A45C"/>
                </a:solidFill>
                <a:latin typeface="Space Grotesk"/>
              </a:rPr>
              <a:t>▪  </a:t>
            </a:r>
            <a:r>
              <a:rPr sz="1600">
                <a:solidFill>
                  <a:srgbClr val="99A0AB"/>
                </a:solidFill>
                <a:latin typeface="Space Grotesk"/>
              </a:rPr>
              <a:t>Defensa en profundidad: la interfaz oculta lo que el usuario no puede usar; el backend siempre rechaza (403) igualmente</a:t>
            </a:r>
          </a:p>
          <a:p>
            <a:pPr>
              <a:lnSpc>
                <a:spcPct val="155000"/>
              </a:lnSpc>
              <a:spcAft>
                <a:spcPts val="400"/>
              </a:spcAft>
            </a:pPr>
            <a:r>
              <a:rPr sz="1600" b="1">
                <a:solidFill>
                  <a:srgbClr val="C9A45C"/>
                </a:solidFill>
                <a:latin typeface="Space Grotesk"/>
              </a:rPr>
              <a:t>▪  </a:t>
            </a:r>
            <a:r>
              <a:rPr sz="1600">
                <a:solidFill>
                  <a:srgbClr val="99A0AB"/>
                </a:solidFill>
                <a:latin typeface="Space Grotesk"/>
              </a:rPr>
              <a:t>Aislamiento de datos: cada usuario solo ve y opera sobre sus propios datos, verificado en cada consulta al backend</a:t>
            </a:r>
          </a:p>
          <a:p>
            <a:pPr>
              <a:lnSpc>
                <a:spcPct val="155000"/>
              </a:lnSpc>
              <a:spcAft>
                <a:spcPts val="400"/>
              </a:spcAft>
            </a:pPr>
            <a:r>
              <a:rPr sz="1600" b="1">
                <a:solidFill>
                  <a:srgbClr val="C9A45C"/>
                </a:solidFill>
                <a:latin typeface="Space Grotesk"/>
              </a:rPr>
              <a:t>▪  </a:t>
            </a:r>
            <a:r>
              <a:rPr sz="1600">
                <a:solidFill>
                  <a:srgbClr val="99A0AB"/>
                </a:solidFill>
                <a:latin typeface="Space Grotesk"/>
              </a:rPr>
              <a:t>Contraseñas con hashing bcrypt; validaciones alineadas con buenas prácticas OWASP (Spec 00b)</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07 · SEGURIDAD Y METODOLOGÍA</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23</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07 · SEGURIDAD Y METODOLOGÍA</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Frontend: cero deuda técnica de framework</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57400"/>
            <a:ext cx="10241280" cy="2743200"/>
          </a:xfrm>
          <a:prstGeom prst="rect">
            <a:avLst/>
          </a:prstGeom>
          <a:noFill/>
        </p:spPr>
        <p:txBody>
          <a:bodyPr wrap="square" lIns="0" tIns="0" rIns="0" bIns="0">
            <a:spAutoFit/>
          </a:bodyPr>
          <a:lstStyle/>
          <a:p>
            <a:pPr>
              <a:lnSpc>
                <a:spcPct val="155000"/>
              </a:lnSpc>
              <a:spcAft>
                <a:spcPts val="400"/>
              </a:spcAft>
            </a:pPr>
            <a:r>
              <a:rPr sz="1600" b="1">
                <a:solidFill>
                  <a:srgbClr val="C9A45C"/>
                </a:solidFill>
                <a:latin typeface="Space Grotesk"/>
              </a:rPr>
              <a:t>▪  </a:t>
            </a:r>
            <a:r>
              <a:rPr sz="1600">
                <a:solidFill>
                  <a:srgbClr val="99A0AB"/>
                </a:solidFill>
                <a:latin typeface="Space Grotesk"/>
              </a:rPr>
              <a:t>Web Components nativos (estándar W3C) — sin React, Vue ni Angular</a:t>
            </a:r>
          </a:p>
          <a:p>
            <a:pPr>
              <a:lnSpc>
                <a:spcPct val="155000"/>
              </a:lnSpc>
              <a:spcAft>
                <a:spcPts val="400"/>
              </a:spcAft>
            </a:pPr>
            <a:r>
              <a:rPr sz="1600" b="1">
                <a:solidFill>
                  <a:srgbClr val="C9A45C"/>
                </a:solidFill>
                <a:latin typeface="Space Grotesk"/>
              </a:rPr>
              <a:t>▪  </a:t>
            </a:r>
            <a:r>
              <a:rPr sz="1600">
                <a:solidFill>
                  <a:srgbClr val="99A0AB"/>
                </a:solidFill>
                <a:latin typeface="Space Grotesk"/>
              </a:rPr>
              <a:t>Reactividad con @preact/signals-core (~2 KB) — una sola dependencia en tiempo de ejecución</a:t>
            </a:r>
          </a:p>
          <a:p>
            <a:pPr>
              <a:lnSpc>
                <a:spcPct val="155000"/>
              </a:lnSpc>
              <a:spcAft>
                <a:spcPts val="400"/>
              </a:spcAft>
            </a:pPr>
            <a:r>
              <a:rPr sz="1600" b="1">
                <a:solidFill>
                  <a:srgbClr val="C9A45C"/>
                </a:solidFill>
                <a:latin typeface="Space Grotesk"/>
              </a:rPr>
              <a:t>▪  </a:t>
            </a:r>
            <a:r>
              <a:rPr sz="1600">
                <a:solidFill>
                  <a:srgbClr val="99A0AB"/>
                </a:solidFill>
                <a:latin typeface="Space Grotesk"/>
              </a:rPr>
              <a:t>TypeScript estricto + Vite, tema visual “Terminal Premium” — esta misma presentación se inspira en él</a:t>
            </a:r>
          </a:p>
          <a:p>
            <a:pPr>
              <a:lnSpc>
                <a:spcPct val="155000"/>
              </a:lnSpc>
              <a:spcAft>
                <a:spcPts val="400"/>
              </a:spcAft>
            </a:pPr>
            <a:r>
              <a:rPr sz="1600" b="1">
                <a:solidFill>
                  <a:srgbClr val="C9A45C"/>
                </a:solidFill>
                <a:latin typeface="Space Grotesk"/>
              </a:rPr>
              <a:t>▪  </a:t>
            </a:r>
            <a:r>
              <a:rPr sz="1600">
                <a:solidFill>
                  <a:srgbClr val="99A0AB"/>
                </a:solidFill>
                <a:latin typeface="Space Grotesk"/>
              </a:rPr>
              <a:t>Mobile-first: diseñado primero para 360 px de ancho, escalado hacia tablet y escritorio</a:t>
            </a:r>
          </a:p>
        </p:txBody>
      </p:sp>
      <p:sp>
        <p:nvSpPr>
          <p:cNvPr id="7" name="Rounded Rectangle 6"/>
          <p:cNvSpPr/>
          <p:nvPr/>
        </p:nvSpPr>
        <p:spPr>
          <a:xfrm>
            <a:off x="777240" y="5074920"/>
            <a:ext cx="10241280" cy="868680"/>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5074920"/>
            <a:ext cx="54864" cy="86868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5230368"/>
            <a:ext cx="9692640" cy="548640"/>
          </a:xfrm>
          <a:prstGeom prst="rect">
            <a:avLst/>
          </a:prstGeom>
          <a:noFill/>
        </p:spPr>
        <p:txBody>
          <a:bodyPr wrap="square" lIns="0" tIns="0" rIns="0" bIns="0" anchor="t">
            <a:spAutoFit/>
          </a:bodyPr>
          <a:lstStyle/>
          <a:p>
            <a:pPr algn="l">
              <a:lnSpc>
                <a:spcPct val="130000"/>
              </a:lnSpc>
            </a:pPr>
            <a:r>
              <a:rPr sz="1250" b="0" i="1">
                <a:solidFill>
                  <a:srgbClr val="E7E9ED"/>
                </a:solidFill>
                <a:latin typeface="Space Grotesk"/>
              </a:rPr>
              <a:t>Resultado: cualquier desarrollador entiende el frontend completo en días, no semanas — y no hay riesgo de romperse en la próxima versión mayor de un framework.</a:t>
            </a:r>
          </a:p>
        </p:txBody>
      </p:sp>
      <p:sp>
        <p:nvSpPr>
          <p:cNvPr id="10" name="TextBox 9"/>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11" name="TextBox 10"/>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07 · SEGURIDAD Y METODOLOGÍA</a:t>
            </a:r>
          </a:p>
        </p:txBody>
      </p:sp>
      <p:sp>
        <p:nvSpPr>
          <p:cNvPr id="12" name="TextBox 11"/>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24</a:t>
            </a:r>
          </a:p>
        </p:txBody>
      </p:sp>
      <p:sp>
        <p:nvSpPr>
          <p:cNvPr id="13" name="Rectangle 12"/>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07 · SEGURIDAD Y METODOLOGÍA</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Spec Driven Development</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03120"/>
            <a:ext cx="10241280" cy="2560320"/>
          </a:xfrm>
          <a:prstGeom prst="rect">
            <a:avLst/>
          </a:prstGeom>
          <a:noFill/>
        </p:spPr>
        <p:txBody>
          <a:bodyPr wrap="square" lIns="0" tIns="0" rIns="0" bIns="0">
            <a:spAutoFit/>
          </a:bodyPr>
          <a:lstStyle/>
          <a:p>
            <a:pPr>
              <a:lnSpc>
                <a:spcPct val="170000"/>
              </a:lnSpc>
              <a:spcAft>
                <a:spcPts val="400"/>
              </a:spcAft>
            </a:pPr>
            <a:r>
              <a:rPr sz="1700" b="1">
                <a:solidFill>
                  <a:srgbClr val="C9A45C"/>
                </a:solidFill>
                <a:latin typeface="Space Grotesk"/>
              </a:rPr>
              <a:t>▪  </a:t>
            </a:r>
            <a:r>
              <a:rPr sz="1700">
                <a:solidFill>
                  <a:srgbClr val="99A0AB"/>
                </a:solidFill>
                <a:latin typeface="Space Grotesk"/>
              </a:rPr>
              <a:t>Más de 25 especificaciones versionadas y trazables dentro del propio repositorio (carpeta specs/)</a:t>
            </a:r>
          </a:p>
          <a:p>
            <a:pPr>
              <a:lnSpc>
                <a:spcPct val="170000"/>
              </a:lnSpc>
              <a:spcAft>
                <a:spcPts val="400"/>
              </a:spcAft>
            </a:pPr>
            <a:r>
              <a:rPr sz="1700" b="1">
                <a:solidFill>
                  <a:srgbClr val="C9A45C"/>
                </a:solidFill>
                <a:latin typeface="Space Grotesk"/>
              </a:rPr>
              <a:t>▪  </a:t>
            </a:r>
            <a:r>
              <a:rPr sz="1700">
                <a:solidFill>
                  <a:srgbClr val="99A0AB"/>
                </a:solidFill>
                <a:latin typeface="Space Grotesk"/>
              </a:rPr>
              <a:t>Ninguna funcionalidad se construye sin un spec aprobado previamente</a:t>
            </a:r>
          </a:p>
          <a:p>
            <a:pPr>
              <a:lnSpc>
                <a:spcPct val="170000"/>
              </a:lnSpc>
              <a:spcAft>
                <a:spcPts val="400"/>
              </a:spcAft>
            </a:pPr>
            <a:r>
              <a:rPr sz="1700" b="1">
                <a:solidFill>
                  <a:srgbClr val="C9A45C"/>
                </a:solidFill>
                <a:latin typeface="Space Grotesk"/>
              </a:rPr>
              <a:t>▪  </a:t>
            </a:r>
            <a:r>
              <a:rPr sz="1700">
                <a:solidFill>
                  <a:srgbClr val="99A0AB"/>
                </a:solidFill>
                <a:latin typeface="Space Grotesk"/>
              </a:rPr>
              <a:t>Trazabilidad completa: decisión de diseño → especificación → commit → test</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07 · SEGURIDAD Y METODOLOGÍA</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25</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31720"/>
            <a:ext cx="2743200" cy="1280160"/>
          </a:xfrm>
          <a:prstGeom prst="rect">
            <a:avLst/>
          </a:prstGeom>
          <a:noFill/>
        </p:spPr>
        <p:txBody>
          <a:bodyPr wrap="square" lIns="0" tIns="0" rIns="0" bIns="0" anchor="t">
            <a:spAutoFit/>
          </a:bodyPr>
          <a:lstStyle/>
          <a:p>
            <a:pPr algn="l">
              <a:lnSpc>
                <a:spcPct val="115000"/>
              </a:lnSpc>
            </a:pPr>
            <a:r>
              <a:rPr sz="9000" b="1" i="0">
                <a:solidFill>
                  <a:srgbClr val="2A2412"/>
                </a:solidFill>
                <a:latin typeface="JetBrains Mono"/>
              </a:rPr>
              <a:t>08</a:t>
            </a:r>
          </a:p>
        </p:txBody>
      </p:sp>
      <p:sp>
        <p:nvSpPr>
          <p:cNvPr id="4" name="TextBox 3"/>
          <p:cNvSpPr txBox="1"/>
          <p:nvPr/>
        </p:nvSpPr>
        <p:spPr>
          <a:xfrm>
            <a:off x="868680" y="3337560"/>
            <a:ext cx="10058400" cy="822960"/>
          </a:xfrm>
          <a:prstGeom prst="rect">
            <a:avLst/>
          </a:prstGeom>
          <a:noFill/>
        </p:spPr>
        <p:txBody>
          <a:bodyPr wrap="square" lIns="0" tIns="0" rIns="0" bIns="0" anchor="t">
            <a:spAutoFit/>
          </a:bodyPr>
          <a:lstStyle/>
          <a:p>
            <a:pPr algn="l">
              <a:lnSpc>
                <a:spcPct val="115000"/>
              </a:lnSpc>
            </a:pPr>
            <a:r>
              <a:rPr sz="3400" b="1" i="0">
                <a:solidFill>
                  <a:srgbClr val="E7E9ED"/>
                </a:solidFill>
                <a:latin typeface="Space Grotesk"/>
              </a:rPr>
              <a:t>Estado actual y próximos pasos</a:t>
            </a:r>
          </a:p>
        </p:txBody>
      </p:sp>
      <p:sp>
        <p:nvSpPr>
          <p:cNvPr id="5" name="Rectangle 4"/>
          <p:cNvSpPr/>
          <p:nvPr/>
        </p:nvSpPr>
        <p:spPr>
          <a:xfrm>
            <a:off x="886968" y="4041648"/>
            <a:ext cx="82296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86968" y="4206240"/>
            <a:ext cx="9601200" cy="548640"/>
          </a:xfrm>
          <a:prstGeom prst="rect">
            <a:avLst/>
          </a:prstGeom>
          <a:noFill/>
        </p:spPr>
        <p:txBody>
          <a:bodyPr wrap="square" lIns="0" tIns="0" rIns="0" bIns="0" anchor="t">
            <a:spAutoFit/>
          </a:bodyPr>
          <a:lstStyle/>
          <a:p>
            <a:pPr algn="l">
              <a:lnSpc>
                <a:spcPct val="115000"/>
              </a:lnSpc>
            </a:pPr>
            <a:r>
              <a:rPr sz="1500" b="0" i="0">
                <a:solidFill>
                  <a:srgbClr val="99A0AB"/>
                </a:solidFill>
                <a:latin typeface="Space Grotesk"/>
              </a:rPr>
              <a:t>Qué está construido hoy y hacia dónde va el proyecto</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08 · ESTADO ACTUAL</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26</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08 · ESTADO ACTUAL</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Especificaciones implementadas</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874519"/>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984247"/>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D01</a:t>
            </a:r>
          </a:p>
        </p:txBody>
      </p:sp>
      <p:sp>
        <p:nvSpPr>
          <p:cNvPr id="8" name="TextBox 7"/>
          <p:cNvSpPr txBox="1"/>
          <p:nvPr/>
        </p:nvSpPr>
        <p:spPr>
          <a:xfrm>
            <a:off x="1645920" y="1947671"/>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Autenticación</a:t>
            </a:r>
          </a:p>
        </p:txBody>
      </p:sp>
      <p:sp>
        <p:nvSpPr>
          <p:cNvPr id="9" name="Oval 8"/>
          <p:cNvSpPr/>
          <p:nvPr/>
        </p:nvSpPr>
        <p:spPr>
          <a:xfrm>
            <a:off x="3657600" y="2084831"/>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10" name="Rounded Rectangle 9"/>
          <p:cNvSpPr/>
          <p:nvPr/>
        </p:nvSpPr>
        <p:spPr>
          <a:xfrm>
            <a:off x="4279392" y="1874519"/>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62272" y="1984247"/>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D02</a:t>
            </a:r>
          </a:p>
        </p:txBody>
      </p:sp>
      <p:sp>
        <p:nvSpPr>
          <p:cNvPr id="12" name="TextBox 11"/>
          <p:cNvSpPr txBox="1"/>
          <p:nvPr/>
        </p:nvSpPr>
        <p:spPr>
          <a:xfrm>
            <a:off x="5239512" y="1947671"/>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Carteras</a:t>
            </a:r>
          </a:p>
        </p:txBody>
      </p:sp>
      <p:sp>
        <p:nvSpPr>
          <p:cNvPr id="13" name="Oval 12"/>
          <p:cNvSpPr/>
          <p:nvPr/>
        </p:nvSpPr>
        <p:spPr>
          <a:xfrm>
            <a:off x="7251192" y="2084831"/>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14" name="Rounded Rectangle 13"/>
          <p:cNvSpPr/>
          <p:nvPr/>
        </p:nvSpPr>
        <p:spPr>
          <a:xfrm>
            <a:off x="7872984" y="1874519"/>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55864" y="1984247"/>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D03</a:t>
            </a:r>
          </a:p>
        </p:txBody>
      </p:sp>
      <p:sp>
        <p:nvSpPr>
          <p:cNvPr id="16" name="TextBox 15"/>
          <p:cNvSpPr txBox="1"/>
          <p:nvPr/>
        </p:nvSpPr>
        <p:spPr>
          <a:xfrm>
            <a:off x="8833104" y="1947671"/>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Activos, lotes y ventas</a:t>
            </a:r>
          </a:p>
        </p:txBody>
      </p:sp>
      <p:sp>
        <p:nvSpPr>
          <p:cNvPr id="17" name="Oval 16"/>
          <p:cNvSpPr/>
          <p:nvPr/>
        </p:nvSpPr>
        <p:spPr>
          <a:xfrm>
            <a:off x="10844784" y="2084831"/>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18" name="Rounded Rectangle 17"/>
          <p:cNvSpPr/>
          <p:nvPr/>
        </p:nvSpPr>
        <p:spPr>
          <a:xfrm>
            <a:off x="685800" y="2734055"/>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2843783"/>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D04</a:t>
            </a:r>
          </a:p>
        </p:txBody>
      </p:sp>
      <p:sp>
        <p:nvSpPr>
          <p:cNvPr id="20" name="TextBox 19"/>
          <p:cNvSpPr txBox="1"/>
          <p:nvPr/>
        </p:nvSpPr>
        <p:spPr>
          <a:xfrm>
            <a:off x="1645920" y="2807207"/>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Motor de cálculo FX</a:t>
            </a:r>
          </a:p>
        </p:txBody>
      </p:sp>
      <p:sp>
        <p:nvSpPr>
          <p:cNvPr id="21" name="Oval 20"/>
          <p:cNvSpPr/>
          <p:nvPr/>
        </p:nvSpPr>
        <p:spPr>
          <a:xfrm>
            <a:off x="3657600" y="2944367"/>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22" name="Rounded Rectangle 21"/>
          <p:cNvSpPr/>
          <p:nvPr/>
        </p:nvSpPr>
        <p:spPr>
          <a:xfrm>
            <a:off x="4279392" y="2734055"/>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62272" y="2843783"/>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D05</a:t>
            </a:r>
          </a:p>
        </p:txBody>
      </p:sp>
      <p:sp>
        <p:nvSpPr>
          <p:cNvPr id="24" name="TextBox 23"/>
          <p:cNvSpPr txBox="1"/>
          <p:nvPr/>
        </p:nvSpPr>
        <p:spPr>
          <a:xfrm>
            <a:off x="5239512" y="2807207"/>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Catálogo de indicadores</a:t>
            </a:r>
          </a:p>
        </p:txBody>
      </p:sp>
      <p:sp>
        <p:nvSpPr>
          <p:cNvPr id="25" name="Oval 24"/>
          <p:cNvSpPr/>
          <p:nvPr/>
        </p:nvSpPr>
        <p:spPr>
          <a:xfrm>
            <a:off x="7251192" y="2944367"/>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26" name="Rounded Rectangle 25"/>
          <p:cNvSpPr/>
          <p:nvPr/>
        </p:nvSpPr>
        <p:spPr>
          <a:xfrm>
            <a:off x="7872984" y="2734055"/>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55864" y="2843783"/>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D06</a:t>
            </a:r>
          </a:p>
        </p:txBody>
      </p:sp>
      <p:sp>
        <p:nvSpPr>
          <p:cNvPr id="28" name="TextBox 27"/>
          <p:cNvSpPr txBox="1"/>
          <p:nvPr/>
        </p:nvSpPr>
        <p:spPr>
          <a:xfrm>
            <a:off x="8833104" y="2807207"/>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Niveles y alertas</a:t>
            </a:r>
          </a:p>
        </p:txBody>
      </p:sp>
      <p:sp>
        <p:nvSpPr>
          <p:cNvPr id="29" name="Oval 28"/>
          <p:cNvSpPr/>
          <p:nvPr/>
        </p:nvSpPr>
        <p:spPr>
          <a:xfrm>
            <a:off x="10844784" y="2944367"/>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30" name="Rounded Rectangle 29"/>
          <p:cNvSpPr/>
          <p:nvPr/>
        </p:nvSpPr>
        <p:spPr>
          <a:xfrm>
            <a:off x="685800" y="3593591"/>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3703319"/>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D07</a:t>
            </a:r>
          </a:p>
        </p:txBody>
      </p:sp>
      <p:sp>
        <p:nvSpPr>
          <p:cNvPr id="32" name="TextBox 31"/>
          <p:cNvSpPr txBox="1"/>
          <p:nvPr/>
        </p:nvSpPr>
        <p:spPr>
          <a:xfrm>
            <a:off x="1645920" y="3666743"/>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Análisis de informes con IA</a:t>
            </a:r>
          </a:p>
        </p:txBody>
      </p:sp>
      <p:sp>
        <p:nvSpPr>
          <p:cNvPr id="33" name="Oval 32"/>
          <p:cNvSpPr/>
          <p:nvPr/>
        </p:nvSpPr>
        <p:spPr>
          <a:xfrm>
            <a:off x="3657600" y="3803903"/>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34" name="Rounded Rectangle 33"/>
          <p:cNvSpPr/>
          <p:nvPr/>
        </p:nvSpPr>
        <p:spPr>
          <a:xfrm>
            <a:off x="4279392" y="3593591"/>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2272" y="3703319"/>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D08</a:t>
            </a:r>
          </a:p>
        </p:txBody>
      </p:sp>
      <p:sp>
        <p:nvSpPr>
          <p:cNvPr id="36" name="TextBox 35"/>
          <p:cNvSpPr txBox="1"/>
          <p:nvPr/>
        </p:nvSpPr>
        <p:spPr>
          <a:xfrm>
            <a:off x="5239512" y="3666743"/>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Internacionalización</a:t>
            </a:r>
          </a:p>
        </p:txBody>
      </p:sp>
      <p:sp>
        <p:nvSpPr>
          <p:cNvPr id="37" name="Oval 36"/>
          <p:cNvSpPr/>
          <p:nvPr/>
        </p:nvSpPr>
        <p:spPr>
          <a:xfrm>
            <a:off x="7251192" y="3803903"/>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38" name="Rounded Rectangle 37"/>
          <p:cNvSpPr/>
          <p:nvPr/>
        </p:nvSpPr>
        <p:spPr>
          <a:xfrm>
            <a:off x="7872984" y="3593591"/>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55864" y="3703319"/>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D09</a:t>
            </a:r>
          </a:p>
        </p:txBody>
      </p:sp>
      <p:sp>
        <p:nvSpPr>
          <p:cNvPr id="40" name="TextBox 39"/>
          <p:cNvSpPr txBox="1"/>
          <p:nvPr/>
        </p:nvSpPr>
        <p:spPr>
          <a:xfrm>
            <a:off x="8833104" y="3666743"/>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Integración de datos de mercado/FX</a:t>
            </a:r>
          </a:p>
        </p:txBody>
      </p:sp>
      <p:sp>
        <p:nvSpPr>
          <p:cNvPr id="41" name="Oval 40"/>
          <p:cNvSpPr/>
          <p:nvPr/>
        </p:nvSpPr>
        <p:spPr>
          <a:xfrm>
            <a:off x="10844784" y="3803903"/>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42" name="Rounded Rectangle 41"/>
          <p:cNvSpPr/>
          <p:nvPr/>
        </p:nvSpPr>
        <p:spPr>
          <a:xfrm>
            <a:off x="685800" y="4453127"/>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8680" y="4562855"/>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D10</a:t>
            </a:r>
          </a:p>
        </p:txBody>
      </p:sp>
      <p:sp>
        <p:nvSpPr>
          <p:cNvPr id="44" name="TextBox 43"/>
          <p:cNvSpPr txBox="1"/>
          <p:nvPr/>
        </p:nvSpPr>
        <p:spPr>
          <a:xfrm>
            <a:off x="1645920" y="4526279"/>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Arquitectura frontend</a:t>
            </a:r>
          </a:p>
        </p:txBody>
      </p:sp>
      <p:sp>
        <p:nvSpPr>
          <p:cNvPr id="45" name="Oval 44"/>
          <p:cNvSpPr/>
          <p:nvPr/>
        </p:nvSpPr>
        <p:spPr>
          <a:xfrm>
            <a:off x="3657600" y="4663439"/>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46" name="Rounded Rectangle 45"/>
          <p:cNvSpPr/>
          <p:nvPr/>
        </p:nvSpPr>
        <p:spPr>
          <a:xfrm>
            <a:off x="4279392" y="4453127"/>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62272" y="4562855"/>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D11</a:t>
            </a:r>
          </a:p>
        </p:txBody>
      </p:sp>
      <p:sp>
        <p:nvSpPr>
          <p:cNvPr id="48" name="TextBox 47"/>
          <p:cNvSpPr txBox="1"/>
          <p:nvPr/>
        </p:nvSpPr>
        <p:spPr>
          <a:xfrm>
            <a:off x="5239512" y="4526279"/>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Roles y permisos</a:t>
            </a:r>
          </a:p>
        </p:txBody>
      </p:sp>
      <p:sp>
        <p:nvSpPr>
          <p:cNvPr id="49" name="Oval 48"/>
          <p:cNvSpPr/>
          <p:nvPr/>
        </p:nvSpPr>
        <p:spPr>
          <a:xfrm>
            <a:off x="7251192" y="4663439"/>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50" name="Rounded Rectangle 49"/>
          <p:cNvSpPr/>
          <p:nvPr/>
        </p:nvSpPr>
        <p:spPr>
          <a:xfrm>
            <a:off x="7872984" y="4453127"/>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055864" y="4562855"/>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D12</a:t>
            </a:r>
          </a:p>
        </p:txBody>
      </p:sp>
      <p:sp>
        <p:nvSpPr>
          <p:cNvPr id="52" name="TextBox 51"/>
          <p:cNvSpPr txBox="1"/>
          <p:nvPr/>
        </p:nvSpPr>
        <p:spPr>
          <a:xfrm>
            <a:off x="8833104" y="4526279"/>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Cascada multi-proveedor</a:t>
            </a:r>
          </a:p>
        </p:txBody>
      </p:sp>
      <p:sp>
        <p:nvSpPr>
          <p:cNvPr id="53" name="Oval 52"/>
          <p:cNvSpPr/>
          <p:nvPr/>
        </p:nvSpPr>
        <p:spPr>
          <a:xfrm>
            <a:off x="10844784" y="4663439"/>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54" name="TextBox 53"/>
          <p:cNvSpPr txBox="1"/>
          <p:nvPr/>
        </p:nvSpPr>
        <p:spPr>
          <a:xfrm>
            <a:off x="685800" y="5358383"/>
            <a:ext cx="10241280" cy="365760"/>
          </a:xfrm>
          <a:prstGeom prst="rect">
            <a:avLst/>
          </a:prstGeom>
          <a:noFill/>
        </p:spPr>
        <p:txBody>
          <a:bodyPr wrap="square" lIns="0" tIns="0" rIns="0" bIns="0" anchor="t">
            <a:spAutoFit/>
          </a:bodyPr>
          <a:lstStyle/>
          <a:p>
            <a:pPr algn="l">
              <a:lnSpc>
                <a:spcPct val="115000"/>
              </a:lnSpc>
            </a:pPr>
            <a:r>
              <a:rPr sz="1150" b="0" i="0">
                <a:solidFill>
                  <a:srgbClr val="5C6472"/>
                </a:solidFill>
                <a:latin typeface="JetBrains Mono"/>
              </a:rPr>
              <a:t>+ 8 changesets incrementales (C01–C08): roles y permisos, cascada multi-proveedor, edición de análisis, rediseño Terminal Premium, dashboard con KPIs</a:t>
            </a:r>
          </a:p>
        </p:txBody>
      </p:sp>
      <p:sp>
        <p:nvSpPr>
          <p:cNvPr id="55" name="TextBox 54"/>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56" name="TextBox 55"/>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08 · ESTADO ACTUAL</a:t>
            </a:r>
          </a:p>
        </p:txBody>
      </p:sp>
      <p:sp>
        <p:nvSpPr>
          <p:cNvPr id="57" name="TextBox 56"/>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27</a:t>
            </a:r>
          </a:p>
        </p:txBody>
      </p:sp>
      <p:sp>
        <p:nvSpPr>
          <p:cNvPr id="58" name="Rectangle 57"/>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08 · ESTADO ACTUAL</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Despliegue en Azure</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874519"/>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984247"/>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RG</a:t>
            </a:r>
          </a:p>
        </p:txBody>
      </p:sp>
      <p:sp>
        <p:nvSpPr>
          <p:cNvPr id="8" name="TextBox 7"/>
          <p:cNvSpPr txBox="1"/>
          <p:nvPr/>
        </p:nvSpPr>
        <p:spPr>
          <a:xfrm>
            <a:off x="1645920" y="1947671"/>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Resource Group en Azure (cuenta Eural)</a:t>
            </a:r>
          </a:p>
        </p:txBody>
      </p:sp>
      <p:sp>
        <p:nvSpPr>
          <p:cNvPr id="9" name="Oval 8"/>
          <p:cNvSpPr/>
          <p:nvPr/>
        </p:nvSpPr>
        <p:spPr>
          <a:xfrm>
            <a:off x="3657600" y="2084831"/>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10" name="Rounded Rectangle 9"/>
          <p:cNvSpPr/>
          <p:nvPr/>
        </p:nvSpPr>
        <p:spPr>
          <a:xfrm>
            <a:off x="4279392" y="1874519"/>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62272" y="1984247"/>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ENV</a:t>
            </a:r>
          </a:p>
        </p:txBody>
      </p:sp>
      <p:sp>
        <p:nvSpPr>
          <p:cNvPr id="12" name="TextBox 11"/>
          <p:cNvSpPr txBox="1"/>
          <p:nvPr/>
        </p:nvSpPr>
        <p:spPr>
          <a:xfrm>
            <a:off x="5239512" y="1947671"/>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Container Apps Environment (North Europe)</a:t>
            </a:r>
          </a:p>
        </p:txBody>
      </p:sp>
      <p:sp>
        <p:nvSpPr>
          <p:cNvPr id="13" name="Oval 12"/>
          <p:cNvSpPr/>
          <p:nvPr/>
        </p:nvSpPr>
        <p:spPr>
          <a:xfrm>
            <a:off x="7251192" y="2084831"/>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14" name="Rounded Rectangle 13"/>
          <p:cNvSpPr/>
          <p:nvPr/>
        </p:nvSpPr>
        <p:spPr>
          <a:xfrm>
            <a:off x="7872984" y="1874519"/>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55864" y="1984247"/>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API</a:t>
            </a:r>
          </a:p>
        </p:txBody>
      </p:sp>
      <p:sp>
        <p:nvSpPr>
          <p:cNvPr id="16" name="TextBox 15"/>
          <p:cNvSpPr txBox="1"/>
          <p:nvPr/>
        </p:nvSpPr>
        <p:spPr>
          <a:xfrm>
            <a:off x="8833104" y="1947671"/>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Backend FastAPI + Uvicorn</a:t>
            </a:r>
          </a:p>
        </p:txBody>
      </p:sp>
      <p:sp>
        <p:nvSpPr>
          <p:cNvPr id="17" name="Oval 16"/>
          <p:cNvSpPr/>
          <p:nvPr/>
        </p:nvSpPr>
        <p:spPr>
          <a:xfrm>
            <a:off x="10844784" y="2084831"/>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18" name="Rounded Rectangle 17"/>
          <p:cNvSpPr/>
          <p:nvPr/>
        </p:nvSpPr>
        <p:spPr>
          <a:xfrm>
            <a:off x="685800" y="2734055"/>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2843783"/>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CEL</a:t>
            </a:r>
          </a:p>
        </p:txBody>
      </p:sp>
      <p:sp>
        <p:nvSpPr>
          <p:cNvPr id="20" name="TextBox 19"/>
          <p:cNvSpPr txBox="1"/>
          <p:nvPr/>
        </p:nvSpPr>
        <p:spPr>
          <a:xfrm>
            <a:off x="1645920" y="2807207"/>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Worker Celery (script dedicado)</a:t>
            </a:r>
          </a:p>
        </p:txBody>
      </p:sp>
      <p:sp>
        <p:nvSpPr>
          <p:cNvPr id="21" name="Oval 20"/>
          <p:cNvSpPr/>
          <p:nvPr/>
        </p:nvSpPr>
        <p:spPr>
          <a:xfrm>
            <a:off x="3657600" y="2944367"/>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22" name="Rounded Rectangle 21"/>
          <p:cNvSpPr/>
          <p:nvPr/>
        </p:nvSpPr>
        <p:spPr>
          <a:xfrm>
            <a:off x="4279392" y="2734055"/>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62272" y="2843783"/>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WEB</a:t>
            </a:r>
          </a:p>
        </p:txBody>
      </p:sp>
      <p:sp>
        <p:nvSpPr>
          <p:cNvPr id="24" name="TextBox 23"/>
          <p:cNvSpPr txBox="1"/>
          <p:nvPr/>
        </p:nvSpPr>
        <p:spPr>
          <a:xfrm>
            <a:off x="5239512" y="2807207"/>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Frontend Nginx (build estático)</a:t>
            </a:r>
          </a:p>
        </p:txBody>
      </p:sp>
      <p:sp>
        <p:nvSpPr>
          <p:cNvPr id="25" name="Oval 24"/>
          <p:cNvSpPr/>
          <p:nvPr/>
        </p:nvSpPr>
        <p:spPr>
          <a:xfrm>
            <a:off x="7251192" y="2944367"/>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26" name="Rounded Rectangle 25"/>
          <p:cNvSpPr/>
          <p:nvPr/>
        </p:nvSpPr>
        <p:spPr>
          <a:xfrm>
            <a:off x="7872984" y="2734055"/>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55864" y="2843783"/>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PG</a:t>
            </a:r>
          </a:p>
        </p:txBody>
      </p:sp>
      <p:sp>
        <p:nvSpPr>
          <p:cNvPr id="28" name="TextBox 27"/>
          <p:cNvSpPr txBox="1"/>
          <p:nvPr/>
        </p:nvSpPr>
        <p:spPr>
          <a:xfrm>
            <a:off x="8833104" y="2807207"/>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PostgreSQL 16 Flexible Server</a:t>
            </a:r>
          </a:p>
        </p:txBody>
      </p:sp>
      <p:sp>
        <p:nvSpPr>
          <p:cNvPr id="29" name="Oval 28"/>
          <p:cNvSpPr/>
          <p:nvPr/>
        </p:nvSpPr>
        <p:spPr>
          <a:xfrm>
            <a:off x="10844784" y="2944367"/>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30" name="Rounded Rectangle 29"/>
          <p:cNvSpPr/>
          <p:nvPr/>
        </p:nvSpPr>
        <p:spPr>
          <a:xfrm>
            <a:off x="685800" y="3593591"/>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 y="3703319"/>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REDIS</a:t>
            </a:r>
          </a:p>
        </p:txBody>
      </p:sp>
      <p:sp>
        <p:nvSpPr>
          <p:cNvPr id="32" name="TextBox 31"/>
          <p:cNvSpPr txBox="1"/>
          <p:nvPr/>
        </p:nvSpPr>
        <p:spPr>
          <a:xfrm>
            <a:off x="1645920" y="3666743"/>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Redis gestionado (Upstash, free tier)</a:t>
            </a:r>
          </a:p>
        </p:txBody>
      </p:sp>
      <p:sp>
        <p:nvSpPr>
          <p:cNvPr id="33" name="Oval 32"/>
          <p:cNvSpPr/>
          <p:nvPr/>
        </p:nvSpPr>
        <p:spPr>
          <a:xfrm>
            <a:off x="3657600" y="3803903"/>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34" name="Rounded Rectangle 33"/>
          <p:cNvSpPr/>
          <p:nvPr/>
        </p:nvSpPr>
        <p:spPr>
          <a:xfrm>
            <a:off x="4279392" y="3593591"/>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2272" y="3703319"/>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GHCR</a:t>
            </a:r>
          </a:p>
        </p:txBody>
      </p:sp>
      <p:sp>
        <p:nvSpPr>
          <p:cNvPr id="36" name="TextBox 35"/>
          <p:cNvSpPr txBox="1"/>
          <p:nvPr/>
        </p:nvSpPr>
        <p:spPr>
          <a:xfrm>
            <a:off x="5239512" y="3666743"/>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Imágenes Docker públicas</a:t>
            </a:r>
          </a:p>
        </p:txBody>
      </p:sp>
      <p:sp>
        <p:nvSpPr>
          <p:cNvPr id="37" name="Oval 36"/>
          <p:cNvSpPr/>
          <p:nvPr/>
        </p:nvSpPr>
        <p:spPr>
          <a:xfrm>
            <a:off x="7251192" y="3803903"/>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38" name="Rounded Rectangle 37"/>
          <p:cNvSpPr/>
          <p:nvPr/>
        </p:nvSpPr>
        <p:spPr>
          <a:xfrm>
            <a:off x="7872984" y="3593591"/>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55864" y="3703319"/>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TLS</a:t>
            </a:r>
          </a:p>
        </p:txBody>
      </p:sp>
      <p:sp>
        <p:nvSpPr>
          <p:cNvPr id="40" name="TextBox 39"/>
          <p:cNvSpPr txBox="1"/>
          <p:nvPr/>
        </p:nvSpPr>
        <p:spPr>
          <a:xfrm>
            <a:off x="8833104" y="3666743"/>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HTTPS en todos los servicios</a:t>
            </a:r>
          </a:p>
        </p:txBody>
      </p:sp>
      <p:sp>
        <p:nvSpPr>
          <p:cNvPr id="41" name="Oval 40"/>
          <p:cNvSpPr/>
          <p:nvPr/>
        </p:nvSpPr>
        <p:spPr>
          <a:xfrm>
            <a:off x="10844784" y="3803903"/>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42" name="Rounded Rectangle 41"/>
          <p:cNvSpPr/>
          <p:nvPr/>
        </p:nvSpPr>
        <p:spPr>
          <a:xfrm>
            <a:off x="685800" y="4453127"/>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8680" y="4562855"/>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CSRF</a:t>
            </a:r>
          </a:p>
        </p:txBody>
      </p:sp>
      <p:sp>
        <p:nvSpPr>
          <p:cNvPr id="44" name="TextBox 43"/>
          <p:cNvSpPr txBox="1"/>
          <p:nvPr/>
        </p:nvSpPr>
        <p:spPr>
          <a:xfrm>
            <a:off x="1645920" y="4526279"/>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Token CSRF en body de login (dominios cruzados)</a:t>
            </a:r>
          </a:p>
        </p:txBody>
      </p:sp>
      <p:sp>
        <p:nvSpPr>
          <p:cNvPr id="45" name="Oval 44"/>
          <p:cNvSpPr/>
          <p:nvPr/>
        </p:nvSpPr>
        <p:spPr>
          <a:xfrm>
            <a:off x="3657600" y="4663439"/>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46" name="Rounded Rectangle 45"/>
          <p:cNvSpPr/>
          <p:nvPr/>
        </p:nvSpPr>
        <p:spPr>
          <a:xfrm>
            <a:off x="4279392" y="4453127"/>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62272" y="4562855"/>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MAN</a:t>
            </a:r>
          </a:p>
        </p:txBody>
      </p:sp>
      <p:sp>
        <p:nvSpPr>
          <p:cNvPr id="48" name="TextBox 47"/>
          <p:cNvSpPr txBox="1"/>
          <p:nvPr/>
        </p:nvSpPr>
        <p:spPr>
          <a:xfrm>
            <a:off x="5239512" y="4526279"/>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Despliegue manual, sin CI/CD (Spec 00d §5)</a:t>
            </a:r>
          </a:p>
        </p:txBody>
      </p:sp>
      <p:sp>
        <p:nvSpPr>
          <p:cNvPr id="49" name="Oval 48"/>
          <p:cNvSpPr/>
          <p:nvPr/>
        </p:nvSpPr>
        <p:spPr>
          <a:xfrm>
            <a:off x="7251192" y="4663439"/>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50" name="Rounded Rectangle 49"/>
          <p:cNvSpPr/>
          <p:nvPr/>
        </p:nvSpPr>
        <p:spPr>
          <a:xfrm>
            <a:off x="7872984" y="4453127"/>
            <a:ext cx="3429000" cy="713232"/>
          </a:xfrm>
          <a:prstGeom prst="roundRect">
            <a:avLst>
              <a:gd name="adj" fmla="val 6000"/>
            </a:avLst>
          </a:prstGeom>
          <a:solidFill>
            <a:srgbClr val="101318"/>
          </a:solidFill>
          <a:ln w="12700">
            <a:solidFill>
              <a:srgbClr val="1D2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055864" y="4562855"/>
            <a:ext cx="822960" cy="457200"/>
          </a:xfrm>
          <a:prstGeom prst="rect">
            <a:avLst/>
          </a:prstGeom>
          <a:noFill/>
        </p:spPr>
        <p:txBody>
          <a:bodyPr wrap="square" lIns="0" tIns="0" rIns="0" bIns="0" anchor="t">
            <a:spAutoFit/>
          </a:bodyPr>
          <a:lstStyle/>
          <a:p>
            <a:pPr algn="l">
              <a:lnSpc>
                <a:spcPct val="115000"/>
              </a:lnSpc>
            </a:pPr>
            <a:r>
              <a:rPr sz="1500" b="1" i="0">
                <a:solidFill>
                  <a:srgbClr val="C9A45C"/>
                </a:solidFill>
                <a:latin typeface="JetBrains Mono"/>
              </a:rPr>
              <a:t>€</a:t>
            </a:r>
          </a:p>
        </p:txBody>
      </p:sp>
      <p:sp>
        <p:nvSpPr>
          <p:cNvPr id="52" name="TextBox 51"/>
          <p:cNvSpPr txBox="1"/>
          <p:nvPr/>
        </p:nvSpPr>
        <p:spPr>
          <a:xfrm>
            <a:off x="8833104" y="4526279"/>
            <a:ext cx="1965960" cy="548640"/>
          </a:xfrm>
          <a:prstGeom prst="rect">
            <a:avLst/>
          </a:prstGeom>
          <a:noFill/>
        </p:spPr>
        <p:txBody>
          <a:bodyPr wrap="square" lIns="0" tIns="0" rIns="0" bIns="0" anchor="t">
            <a:spAutoFit/>
          </a:bodyPr>
          <a:lstStyle/>
          <a:p>
            <a:pPr algn="l">
              <a:lnSpc>
                <a:spcPct val="105000"/>
              </a:lnSpc>
            </a:pPr>
            <a:r>
              <a:rPr sz="1150" b="0" i="0">
                <a:solidFill>
                  <a:srgbClr val="E7E9ED"/>
                </a:solidFill>
                <a:latin typeface="Space Grotesk"/>
              </a:rPr>
              <a:t>~20-21 €/mes</a:t>
            </a:r>
          </a:p>
        </p:txBody>
      </p:sp>
      <p:sp>
        <p:nvSpPr>
          <p:cNvPr id="53" name="Oval 52"/>
          <p:cNvSpPr/>
          <p:nvPr/>
        </p:nvSpPr>
        <p:spPr>
          <a:xfrm>
            <a:off x="10844784" y="4663439"/>
            <a:ext cx="292608" cy="292608"/>
          </a:xfrm>
          <a:prstGeom prst="ellipse">
            <a:avLst/>
          </a:prstGeom>
          <a:solidFill>
            <a:srgbClr val="10261B"/>
          </a:solidFill>
          <a:ln w="12700">
            <a:solidFill>
              <a:srgbClr val="4FBF8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4FBF87"/>
                </a:solidFill>
                <a:latin typeface="Space Grotesk"/>
              </a:rPr>
              <a:t>✓</a:t>
            </a:r>
          </a:p>
        </p:txBody>
      </p:sp>
      <p:sp>
        <p:nvSpPr>
          <p:cNvPr id="54" name="TextBox 53"/>
          <p:cNvSpPr txBox="1"/>
          <p:nvPr/>
        </p:nvSpPr>
        <p:spPr>
          <a:xfrm>
            <a:off x="685800" y="5358383"/>
            <a:ext cx="10241280" cy="365760"/>
          </a:xfrm>
          <a:prstGeom prst="rect">
            <a:avLst/>
          </a:prstGeom>
          <a:noFill/>
        </p:spPr>
        <p:txBody>
          <a:bodyPr wrap="square" lIns="0" tIns="0" rIns="0" bIns="0" anchor="t">
            <a:spAutoFit/>
          </a:bodyPr>
          <a:lstStyle/>
          <a:p>
            <a:pPr algn="l">
              <a:lnSpc>
                <a:spcPct val="115000"/>
              </a:lnSpc>
            </a:pPr>
            <a:r>
              <a:rPr sz="1150" b="0" i="0">
                <a:solidFill>
                  <a:srgbClr val="5C6472"/>
                </a:solidFill>
                <a:latin typeface="JetBrains Mono"/>
              </a:rPr>
              <a:t>Bug real resuelto en producción: la cookie CSRF era invisible entre frontend y backend (subdominios distintos) — runbook completo en Changeset C09.</a:t>
            </a:r>
          </a:p>
        </p:txBody>
      </p:sp>
      <p:sp>
        <p:nvSpPr>
          <p:cNvPr id="55" name="TextBox 54"/>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56" name="TextBox 55"/>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08 · ESTADO ACTUAL</a:t>
            </a:r>
          </a:p>
        </p:txBody>
      </p:sp>
      <p:sp>
        <p:nvSpPr>
          <p:cNvPr id="57" name="TextBox 56"/>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28</a:t>
            </a:r>
          </a:p>
        </p:txBody>
      </p:sp>
      <p:sp>
        <p:nvSpPr>
          <p:cNvPr id="58" name="Rectangle 57"/>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08 · ESTADO ACTUAL</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Próximos pasos</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03120"/>
            <a:ext cx="10241280" cy="3108960"/>
          </a:xfrm>
          <a:prstGeom prst="rect">
            <a:avLst/>
          </a:prstGeom>
          <a:noFill/>
        </p:spPr>
        <p:txBody>
          <a:bodyPr wrap="square" lIns="0" tIns="0" rIns="0" bIns="0">
            <a:spAutoFit/>
          </a:bodyPr>
          <a:lstStyle/>
          <a:p>
            <a:pPr>
              <a:lnSpc>
                <a:spcPct val="160000"/>
              </a:lnSpc>
              <a:spcAft>
                <a:spcPts val="400"/>
              </a:spcAft>
            </a:pPr>
            <a:r>
              <a:rPr sz="1650" b="1">
                <a:solidFill>
                  <a:srgbClr val="C9A45C"/>
                </a:solidFill>
                <a:latin typeface="Space Grotesk"/>
              </a:rPr>
              <a:t>▪  </a:t>
            </a:r>
            <a:r>
              <a:rPr sz="1650">
                <a:solidFill>
                  <a:srgbClr val="99A0AB"/>
                </a:solidFill>
                <a:latin typeface="Space Grotesk"/>
              </a:rPr>
              <a:t>Vista consolidada multi-cartera y multi-moneda</a:t>
            </a:r>
          </a:p>
          <a:p>
            <a:pPr>
              <a:lnSpc>
                <a:spcPct val="160000"/>
              </a:lnSpc>
              <a:spcAft>
                <a:spcPts val="400"/>
              </a:spcAft>
            </a:pPr>
            <a:r>
              <a:rPr sz="1650" b="1">
                <a:solidFill>
                  <a:srgbClr val="C9A45C"/>
                </a:solidFill>
                <a:latin typeface="Space Grotesk"/>
              </a:rPr>
              <a:t>▪  </a:t>
            </a:r>
            <a:r>
              <a:rPr sz="1650">
                <a:solidFill>
                  <a:srgbClr val="99A0AB"/>
                </a:solidFill>
                <a:latin typeface="Space Grotesk"/>
              </a:rPr>
              <a:t>Notificaciones push (PWA)</a:t>
            </a:r>
          </a:p>
          <a:p>
            <a:pPr>
              <a:lnSpc>
                <a:spcPct val="160000"/>
              </a:lnSpc>
              <a:spcAft>
                <a:spcPts val="400"/>
              </a:spcAft>
            </a:pPr>
            <a:r>
              <a:rPr sz="1650" b="1">
                <a:solidFill>
                  <a:srgbClr val="C9A45C"/>
                </a:solidFill>
                <a:latin typeface="Space Grotesk"/>
              </a:rPr>
              <a:t>▪  </a:t>
            </a:r>
            <a:r>
              <a:rPr sz="1650">
                <a:solidFill>
                  <a:srgbClr val="99A0AB"/>
                </a:solidFill>
                <a:latin typeface="Space Grotesk"/>
              </a:rPr>
              <a:t>Fuentes adicionales de análisis con IA (noticias, feeds automáticos)</a:t>
            </a:r>
          </a:p>
          <a:p>
            <a:pPr>
              <a:lnSpc>
                <a:spcPct val="160000"/>
              </a:lnSpc>
              <a:spcAft>
                <a:spcPts val="400"/>
              </a:spcAft>
            </a:pPr>
            <a:r>
              <a:rPr sz="1650" b="1">
                <a:solidFill>
                  <a:srgbClr val="C9A45C"/>
                </a:solidFill>
                <a:latin typeface="Space Grotesk"/>
              </a:rPr>
              <a:t>▪  </a:t>
            </a:r>
            <a:r>
              <a:rPr sz="1650">
                <a:solidFill>
                  <a:srgbClr val="99A0AB"/>
                </a:solidFill>
                <a:latin typeface="Space Grotesk"/>
              </a:rPr>
              <a:t>Roles y permisos adicionales según necesidades reales de uso</a:t>
            </a:r>
          </a:p>
          <a:p>
            <a:pPr>
              <a:lnSpc>
                <a:spcPct val="160000"/>
              </a:lnSpc>
              <a:spcAft>
                <a:spcPts val="400"/>
              </a:spcAft>
            </a:pPr>
            <a:r>
              <a:rPr sz="1650" b="1">
                <a:solidFill>
                  <a:srgbClr val="C9A45C"/>
                </a:solidFill>
                <a:latin typeface="Space Grotesk"/>
              </a:rPr>
              <a:t>▪  </a:t>
            </a:r>
            <a:r>
              <a:rPr sz="1650">
                <a:solidFill>
                  <a:srgbClr val="99A0AB"/>
                </a:solidFill>
                <a:latin typeface="Space Grotesk"/>
              </a:rPr>
              <a:t>Generación automática de tipos frontend/backend desde OpenAPI</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08 · ESTADO ACTUAL</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29</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789920" cy="365760"/>
          </a:xfrm>
          <a:prstGeom prst="rect">
            <a:avLst/>
          </a:prstGeom>
          <a:noFill/>
        </p:spPr>
        <p:txBody>
          <a:bodyPr wrap="square" lIns="0" tIns="0" rIns="0" bIns="0" anchor="t">
            <a:spAutoFit/>
          </a:bodyPr>
          <a:lstStyle/>
          <a:p>
            <a:pPr algn="l">
              <a:lnSpc>
                <a:spcPct val="115000"/>
              </a:lnSpc>
            </a:pPr>
            <a:r>
              <a:rPr sz="1300" b="1" i="0">
                <a:solidFill>
                  <a:srgbClr val="C9A45C"/>
                </a:solidFill>
                <a:latin typeface="JetBrains Mono"/>
              </a:rPr>
              <a:t>CIERRE</a:t>
            </a:r>
          </a:p>
        </p:txBody>
      </p:sp>
      <p:sp>
        <p:nvSpPr>
          <p:cNvPr id="4" name="TextBox 3"/>
          <p:cNvSpPr txBox="1"/>
          <p:nvPr/>
        </p:nvSpPr>
        <p:spPr>
          <a:xfrm>
            <a:off x="685800" y="786384"/>
            <a:ext cx="10789920" cy="731520"/>
          </a:xfrm>
          <a:prstGeom prst="rect">
            <a:avLst/>
          </a:prstGeom>
          <a:noFill/>
        </p:spPr>
        <p:txBody>
          <a:bodyPr wrap="square" lIns="0" tIns="0" rIns="0" bIns="0" anchor="t">
            <a:spAutoFit/>
          </a:bodyPr>
          <a:lstStyle/>
          <a:p>
            <a:pPr algn="l">
              <a:lnSpc>
                <a:spcPct val="115000"/>
              </a:lnSpc>
            </a:pPr>
            <a:r>
              <a:rPr sz="3000" b="1" i="0">
                <a:solidFill>
                  <a:srgbClr val="E7E9ED"/>
                </a:solidFill>
                <a:latin typeface="Space Grotesk"/>
              </a:rPr>
              <a:t>En resumen</a:t>
            </a:r>
          </a:p>
        </p:txBody>
      </p:sp>
      <p:sp>
        <p:nvSpPr>
          <p:cNvPr id="5" name="Rectangle 4"/>
          <p:cNvSpPr/>
          <p:nvPr/>
        </p:nvSpPr>
        <p:spPr>
          <a:xfrm>
            <a:off x="685800" y="1444752"/>
            <a:ext cx="50292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03120"/>
            <a:ext cx="10241280" cy="3291840"/>
          </a:xfrm>
          <a:prstGeom prst="rect">
            <a:avLst/>
          </a:prstGeom>
          <a:noFill/>
        </p:spPr>
        <p:txBody>
          <a:bodyPr wrap="square" lIns="0" tIns="0" rIns="0" bIns="0">
            <a:spAutoFit/>
          </a:bodyPr>
          <a:lstStyle/>
          <a:p>
            <a:pPr>
              <a:lnSpc>
                <a:spcPct val="145000"/>
              </a:lnSpc>
              <a:spcAft>
                <a:spcPts val="400"/>
              </a:spcAft>
            </a:pPr>
            <a:r>
              <a:rPr sz="1550" b="1">
                <a:solidFill>
                  <a:srgbClr val="C9A45C"/>
                </a:solidFill>
                <a:latin typeface="Space Grotesk"/>
              </a:rPr>
              <a:t>▪  </a:t>
            </a:r>
            <a:r>
              <a:rPr sz="1550" b="1">
                <a:solidFill>
                  <a:srgbClr val="E7E9ED"/>
                </a:solidFill>
                <a:latin typeface="Space Grotesk"/>
              </a:rPr>
              <a:t>Todo en un solo lugar.</a:t>
            </a:r>
            <a:r>
              <a:rPr sz="1550">
                <a:solidFill>
                  <a:srgbClr val="99A0AB"/>
                </a:solidFill>
                <a:latin typeface="Space Grotesk"/>
              </a:rPr>
              <a:t> cartera, indicadores, alertas e informes conectados</a:t>
            </a:r>
          </a:p>
          <a:p>
            <a:pPr>
              <a:lnSpc>
                <a:spcPct val="145000"/>
              </a:lnSpc>
              <a:spcAft>
                <a:spcPts val="400"/>
              </a:spcAft>
            </a:pPr>
            <a:r>
              <a:rPr sz="1550" b="1">
                <a:solidFill>
                  <a:srgbClr val="C9A45C"/>
                </a:solidFill>
                <a:latin typeface="Space Grotesk"/>
              </a:rPr>
              <a:t>▪  </a:t>
            </a:r>
            <a:r>
              <a:rPr sz="1550" b="1">
                <a:solidFill>
                  <a:srgbClr val="E7E9ED"/>
                </a:solidFill>
                <a:latin typeface="Space Grotesk"/>
              </a:rPr>
              <a:t>Resiliencia de datos.</a:t>
            </a:r>
            <a:r>
              <a:rPr sz="1550">
                <a:solidFill>
                  <a:srgbClr val="99A0AB"/>
                </a:solidFill>
                <a:latin typeface="Space Grotesk"/>
              </a:rPr>
              <a:t> un hub técnico con cascada de proveedores que nunca falla en silencio</a:t>
            </a:r>
          </a:p>
          <a:p>
            <a:pPr>
              <a:lnSpc>
                <a:spcPct val="145000"/>
              </a:lnSpc>
              <a:spcAft>
                <a:spcPts val="400"/>
              </a:spcAft>
            </a:pPr>
            <a:r>
              <a:rPr sz="1550" b="1">
                <a:solidFill>
                  <a:srgbClr val="C9A45C"/>
                </a:solidFill>
                <a:latin typeface="Space Grotesk"/>
              </a:rPr>
              <a:t>▪  </a:t>
            </a:r>
            <a:r>
              <a:rPr sz="1550" b="1">
                <a:solidFill>
                  <a:srgbClr val="E7E9ED"/>
                </a:solidFill>
                <a:latin typeface="Space Grotesk"/>
              </a:rPr>
              <a:t>IA aplicada de verdad.</a:t>
            </a:r>
            <a:r>
              <a:rPr sz="1550">
                <a:solidFill>
                  <a:srgbClr val="99A0AB"/>
                </a:solidFill>
                <a:latin typeface="Space Grotesk"/>
              </a:rPr>
              <a:t> extracción real de señales financieras, con proveedores intercambiables</a:t>
            </a:r>
          </a:p>
          <a:p>
            <a:pPr>
              <a:lnSpc>
                <a:spcPct val="145000"/>
              </a:lnSpc>
              <a:spcAft>
                <a:spcPts val="400"/>
              </a:spcAft>
            </a:pPr>
            <a:r>
              <a:rPr sz="1550" b="1">
                <a:solidFill>
                  <a:srgbClr val="C9A45C"/>
                </a:solidFill>
                <a:latin typeface="Space Grotesk"/>
              </a:rPr>
              <a:t>▪  </a:t>
            </a:r>
            <a:r>
              <a:rPr sz="1550" b="1">
                <a:solidFill>
                  <a:srgbClr val="E7E9ED"/>
                </a:solidFill>
                <a:latin typeface="Space Grotesk"/>
              </a:rPr>
              <a:t>Administración robusta.</a:t>
            </a:r>
            <a:r>
              <a:rPr sz="1550">
                <a:solidFill>
                  <a:srgbClr val="99A0AB"/>
                </a:solidFill>
                <a:latin typeface="Space Grotesk"/>
              </a:rPr>
              <a:t> roles y permisos granulares, control total del hub sin tocar código</a:t>
            </a:r>
          </a:p>
          <a:p>
            <a:pPr>
              <a:lnSpc>
                <a:spcPct val="145000"/>
              </a:lnSpc>
              <a:spcAft>
                <a:spcPts val="400"/>
              </a:spcAft>
            </a:pPr>
            <a:r>
              <a:rPr sz="1550" b="1">
                <a:solidFill>
                  <a:srgbClr val="C9A45C"/>
                </a:solidFill>
                <a:latin typeface="Space Grotesk"/>
              </a:rPr>
              <a:t>▪  </a:t>
            </a:r>
            <a:r>
              <a:rPr sz="1550" b="1">
                <a:solidFill>
                  <a:srgbClr val="E7E9ED"/>
                </a:solidFill>
                <a:latin typeface="Space Grotesk"/>
              </a:rPr>
              <a:t>Arquitectura sin deuda técnica.</a:t>
            </a:r>
            <a:r>
              <a:rPr sz="1550">
                <a:solidFill>
                  <a:srgbClr val="99A0AB"/>
                </a:solidFill>
                <a:latin typeface="Space Grotesk"/>
              </a:rPr>
              <a:t> estándares web, stack aburrido y fiable, todo documentado en specs</a:t>
            </a:r>
          </a:p>
        </p:txBody>
      </p:sp>
      <p:sp>
        <p:nvSpPr>
          <p:cNvPr id="7" name="TextBox 6"/>
          <p:cNvSpPr txBox="1"/>
          <p:nvPr/>
        </p:nvSpPr>
        <p:spPr>
          <a:xfrm>
            <a:off x="685800" y="6473952"/>
            <a:ext cx="5486400" cy="274320"/>
          </a:xfrm>
          <a:prstGeom prst="rect">
            <a:avLst/>
          </a:prstGeom>
          <a:noFill/>
        </p:spPr>
        <p:txBody>
          <a:bodyPr wrap="square" lIns="0" tIns="0" rIns="0" bIns="0" anchor="t">
            <a:spAutoFit/>
          </a:bodyPr>
          <a:lstStyle/>
          <a:p>
            <a:pPr algn="l">
              <a:lnSpc>
                <a:spcPct val="115000"/>
              </a:lnSpc>
            </a:pPr>
            <a:r>
              <a:rPr sz="850" b="0" i="0">
                <a:solidFill>
                  <a:srgbClr val="5C6472"/>
                </a:solidFill>
                <a:latin typeface="JetBrains Mono"/>
              </a:rPr>
              <a:t>TFM BIGSCHOOL · GESTIÓN DE CARTERA FINANCIERA CON IA</a:t>
            </a:r>
          </a:p>
        </p:txBody>
      </p:sp>
      <p:sp>
        <p:nvSpPr>
          <p:cNvPr id="8" name="TextBox 7"/>
          <p:cNvSpPr txBox="1"/>
          <p:nvPr/>
        </p:nvSpPr>
        <p:spPr>
          <a:xfrm>
            <a:off x="5943600" y="6473952"/>
            <a:ext cx="4389120" cy="274320"/>
          </a:xfrm>
          <a:prstGeom prst="rect">
            <a:avLst/>
          </a:prstGeom>
          <a:noFill/>
        </p:spPr>
        <p:txBody>
          <a:bodyPr wrap="square" lIns="0" tIns="0" rIns="0" bIns="0" anchor="t">
            <a:spAutoFit/>
          </a:bodyPr>
          <a:lstStyle/>
          <a:p>
            <a:pPr algn="r">
              <a:lnSpc>
                <a:spcPct val="115000"/>
              </a:lnSpc>
            </a:pPr>
            <a:r>
              <a:rPr sz="850" b="0" i="0">
                <a:solidFill>
                  <a:srgbClr val="5C6472"/>
                </a:solidFill>
                <a:latin typeface="JetBrains Mono"/>
              </a:rPr>
              <a:t>CIERRE</a:t>
            </a:r>
          </a:p>
        </p:txBody>
      </p:sp>
      <p:sp>
        <p:nvSpPr>
          <p:cNvPr id="9" name="TextBox 8"/>
          <p:cNvSpPr txBox="1"/>
          <p:nvPr/>
        </p:nvSpPr>
        <p:spPr>
          <a:xfrm>
            <a:off x="11475720" y="6473952"/>
            <a:ext cx="548640" cy="274320"/>
          </a:xfrm>
          <a:prstGeom prst="rect">
            <a:avLst/>
          </a:prstGeom>
          <a:noFill/>
        </p:spPr>
        <p:txBody>
          <a:bodyPr wrap="square" lIns="0" tIns="0" rIns="0" bIns="0" anchor="t">
            <a:spAutoFit/>
          </a:bodyPr>
          <a:lstStyle/>
          <a:p>
            <a:pPr algn="r">
              <a:lnSpc>
                <a:spcPct val="115000"/>
              </a:lnSpc>
            </a:pPr>
            <a:r>
              <a:rPr sz="850" b="0" i="0">
                <a:solidFill>
                  <a:srgbClr val="C9A45C"/>
                </a:solidFill>
                <a:latin typeface="JetBrains Mono"/>
              </a:rPr>
              <a:t>30</a:t>
            </a:r>
          </a:p>
        </p:txBody>
      </p:sp>
      <p:sp>
        <p:nvSpPr>
          <p:cNvPr id="10" name="Rectangle 9"/>
          <p:cNvSpPr/>
          <p:nvPr/>
        </p:nvSpPr>
        <p:spPr>
          <a:xfrm>
            <a:off x="685800" y="6400800"/>
            <a:ext cx="10817352" cy="9525"/>
          </a:xfrm>
          <a:prstGeom prst="rect">
            <a:avLst/>
          </a:prstGeom>
          <a:solidFill>
            <a:srgbClr val="1D2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9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560320"/>
            <a:ext cx="9144000" cy="1097280"/>
          </a:xfrm>
          <a:prstGeom prst="rect">
            <a:avLst/>
          </a:prstGeom>
          <a:noFill/>
        </p:spPr>
        <p:txBody>
          <a:bodyPr wrap="square" lIns="0" tIns="0" rIns="0" bIns="0" anchor="t">
            <a:spAutoFit/>
          </a:bodyPr>
          <a:lstStyle/>
          <a:p>
            <a:pPr algn="l">
              <a:lnSpc>
                <a:spcPct val="115000"/>
              </a:lnSpc>
            </a:pPr>
            <a:r>
              <a:rPr sz="5400" b="1" i="0">
                <a:solidFill>
                  <a:srgbClr val="E7E9ED"/>
                </a:solidFill>
                <a:latin typeface="Space Grotesk"/>
              </a:rPr>
              <a:t>Gracias</a:t>
            </a:r>
          </a:p>
        </p:txBody>
      </p:sp>
      <p:sp>
        <p:nvSpPr>
          <p:cNvPr id="5" name="Rectangle 4"/>
          <p:cNvSpPr/>
          <p:nvPr/>
        </p:nvSpPr>
        <p:spPr>
          <a:xfrm>
            <a:off x="868680" y="3520440"/>
            <a:ext cx="1005840" cy="38100"/>
          </a:xfrm>
          <a:prstGeom prst="rect">
            <a:avLst/>
          </a:prstGeom>
          <a:solidFill>
            <a:srgbClr val="C9A4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749039"/>
            <a:ext cx="9144000" cy="457200"/>
          </a:xfrm>
          <a:prstGeom prst="rect">
            <a:avLst/>
          </a:prstGeom>
          <a:noFill/>
        </p:spPr>
        <p:txBody>
          <a:bodyPr wrap="square" lIns="0" tIns="0" rIns="0" bIns="0" anchor="t">
            <a:spAutoFit/>
          </a:bodyPr>
          <a:lstStyle/>
          <a:p>
            <a:pPr algn="l">
              <a:lnSpc>
                <a:spcPct val="115000"/>
              </a:lnSpc>
            </a:pPr>
            <a:r>
              <a:rPr sz="1700" b="0" i="0">
                <a:solidFill>
                  <a:srgbClr val="99A0AB"/>
                </a:solidFill>
                <a:latin typeface="Space Grotesk"/>
              </a:rPr>
              <a:t>Preguntas y discusión</a:t>
            </a:r>
          </a:p>
        </p:txBody>
      </p:sp>
      <p:sp>
        <p:nvSpPr>
          <p:cNvPr id="7" name="TextBox 6"/>
          <p:cNvSpPr txBox="1"/>
          <p:nvPr/>
        </p:nvSpPr>
        <p:spPr>
          <a:xfrm>
            <a:off x="822960" y="5806440"/>
            <a:ext cx="5486400" cy="365760"/>
          </a:xfrm>
          <a:prstGeom prst="rect">
            <a:avLst/>
          </a:prstGeom>
          <a:noFill/>
        </p:spPr>
        <p:txBody>
          <a:bodyPr wrap="square" lIns="0" tIns="0" rIns="0" bIns="0" anchor="t">
            <a:spAutoFit/>
          </a:bodyPr>
          <a:lstStyle/>
          <a:p>
            <a:pPr algn="l">
              <a:lnSpc>
                <a:spcPct val="115000"/>
              </a:lnSpc>
            </a:pPr>
            <a:r>
              <a:rPr sz="1400" b="1" i="0">
                <a:solidFill>
                  <a:srgbClr val="E7E9ED"/>
                </a:solidFill>
                <a:latin typeface="Space Grotesk"/>
              </a:rPr>
              <a:t>Romer Cepeda</a:t>
            </a:r>
          </a:p>
        </p:txBody>
      </p:sp>
      <p:sp>
        <p:nvSpPr>
          <p:cNvPr id="8" name="TextBox 7"/>
          <p:cNvSpPr txBox="1"/>
          <p:nvPr/>
        </p:nvSpPr>
        <p:spPr>
          <a:xfrm>
            <a:off x="822960" y="6108192"/>
            <a:ext cx="5486400" cy="320040"/>
          </a:xfrm>
          <a:prstGeom prst="rect">
            <a:avLst/>
          </a:prstGeom>
          <a:noFill/>
        </p:spPr>
        <p:txBody>
          <a:bodyPr wrap="square" lIns="0" tIns="0" rIns="0" bIns="0" anchor="t">
            <a:spAutoFit/>
          </a:bodyPr>
          <a:lstStyle/>
          <a:p>
            <a:pPr algn="l">
              <a:lnSpc>
                <a:spcPct val="115000"/>
              </a:lnSpc>
            </a:pPr>
            <a:r>
              <a:rPr sz="1100" b="0" i="0">
                <a:solidFill>
                  <a:srgbClr val="5C6472"/>
                </a:solidFill>
                <a:latin typeface="JetBrains Mono"/>
              </a:rPr>
              <a:t>github.com/romercepeda/TFM_BigSchool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4124</Words>
  <Application>Microsoft Office PowerPoint</Application>
  <PresentationFormat>Panorámica</PresentationFormat>
  <Paragraphs>441</Paragraphs>
  <Slides>31</Slides>
  <Notes>31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Arial</vt:lpstr>
      <vt:lpstr>Calibri</vt:lpstr>
      <vt:lpstr>JetBrains Mono</vt:lpstr>
      <vt:lpstr>Space Grotesk</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Romer Cepeda</cp:lastModifiedBy>
  <cp:revision>2</cp:revision>
  <dcterms:created xsi:type="dcterms:W3CDTF">2013-01-27T09:14:16Z</dcterms:created>
  <dcterms:modified xsi:type="dcterms:W3CDTF">2026-07-07T13:59:32Z</dcterms:modified>
  <cp:category/>
</cp:coreProperties>
</file>